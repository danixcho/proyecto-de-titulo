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6" r:id="rId17"/>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[PORTADA · 0:00 – 0:15]</a:t>
            </a:r>
          </a:p>
          <a:p/>
          <a:p>
            <a:r>
              <a:t>Buenos días. Soy Daniel Prado y presento el diseño y validación de un módulo de</a:t>
            </a:r>
          </a:p>
          <a:p>
            <a:r>
              <a:t>software analítico para la estimación de estados en un gemelo digital de</a:t>
            </a:r>
          </a:p>
          <a:p>
            <a:r>
              <a:t>chancado primario, bajo la guía del profesor Omar Salinas.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[HOJA DE RUTA · 0:15 – 0:30]</a:t>
            </a:r>
          </a:p>
          <a:p/>
          <a:p>
            <a:r>
              <a:t>La exposición sigue seis bloques en diez minutos: problema y contexto, pregunta</a:t>
            </a:r>
          </a:p>
          <a:p>
            <a:r>
              <a:t>y objetivos, marco teórico, metodología, resultados con su validación</a:t>
            </a:r>
          </a:p>
          <a:p>
            <a:r>
              <a:t>estadística, y cierre con discusión, conclusiones y aportes.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1 — PROBLEMA Y CONTEXTO · 0:30 – 2:00]</a:t>
            </a:r>
          </a:p>
          <a:p/>
          <a:p>
            <a:r>
              <a:t>El chancado primario es el primer eslabón de la cadena del cobre. El problema</a:t>
            </a:r>
          </a:p>
          <a:p>
            <a:r>
              <a:t>que abordo no está en la máquina: está en el dato.</a:t>
            </a:r>
          </a:p>
          <a:p/>
          <a:p>
            <a:r>
              <a:t>El chancador es un sistema estocástico y parcialmente observable. La vibración</a:t>
            </a:r>
          </a:p>
          <a:p>
            <a:r>
              <a:t>severa y el polvo degradan permanentemente la telemetría SCADA. Y hay dos</a:t>
            </a:r>
          </a:p>
          <a:p>
            <a:r>
              <a:t>variables críticas que no se pueden medir de forma directa: el volumen de</a:t>
            </a:r>
          </a:p>
          <a:p>
            <a:r>
              <a:t>mineral retenido en la tolva y, sobre todo, la tasa instantánea de extracción.</a:t>
            </a:r>
          </a:p>
          <a:p/>
          <a:p>
            <a:r>
              <a:t>Frente a eso, los modelos deterministas de umbral y alarma no capturan la</a:t>
            </a:r>
          </a:p>
          <a:p>
            <a:r>
              <a:t>dinámica real. En planta esto significa detenciones por atoro, consumo</a:t>
            </a:r>
          </a:p>
          <a:p>
            <a:r>
              <a:t>energético ineficiente y desgaste prematuro.</a:t>
            </a:r>
          </a:p>
          <a:p/>
          <a:p>
            <a:r>
              <a:t>Pero el impacto que me interesa como ingeniero informático es otro. Toda la</a:t>
            </a:r>
          </a:p>
          <a:p>
            <a:r>
              <a:t>analítica de Industria 4.0 depende de la consistencia de sus entradas. Si el</a:t>
            </a:r>
          </a:p>
          <a:p>
            <a:r>
              <a:t>pipeline procesa datos corruptos, las decisiones automatizadas divergen. Dicho</a:t>
            </a:r>
          </a:p>
          <a:p>
            <a:r>
              <a:t>directamente: se está construyendo inteligencia artificial industrial sobre un</a:t>
            </a:r>
          </a:p>
          <a:p>
            <a:r>
              <a:t>sustrato de datos cuya fidelidad nadie ha garantizado. La revisión de Ebad y</a:t>
            </a:r>
          </a:p>
          <a:p>
            <a:r>
              <a:t>colaboradores, sobre sesenta y ocho estudios, confirma que la integración de</a:t>
            </a:r>
          </a:p>
          <a:p>
            <a:r>
              <a:t>datos sigue siendo un desafío abierto.</a:t>
            </a:r>
          </a:p>
          <a:p/>
          <a:p>
            <a:r>
              <a:t>Mi proyecto se limita estrictamente al bloque destacado en el esquema.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2 — PREGUNTA Y OBJETIVOS · 2:00 – 3:00]</a:t>
            </a:r>
          </a:p>
          <a:p/>
          <a:p>
            <a:r>
              <a:t>De ahí surge la pregunta: de qué manera el diseño y la validación mediante</a:t>
            </a:r>
          </a:p>
          <a:p>
            <a:r>
              <a:t>simulación estocástica de un módulo basado en el Filtro de Kalman Lineal permite</a:t>
            </a:r>
          </a:p>
          <a:p>
            <a:r>
              <a:t>mitigar el ruido instrumental y reconstruir de forma confiable el volumen de</a:t>
            </a:r>
          </a:p>
          <a:p>
            <a:r>
              <a:t>carga en un chancador parcialmente observable.</a:t>
            </a:r>
          </a:p>
          <a:p/>
          <a:p>
            <a:r>
              <a:t>Destaco dos cosas de cómo está formulada. El verbo «validar mediante simulación</a:t>
            </a:r>
          </a:p>
          <a:p>
            <a:r>
              <a:t>estocástica» me compromete a un diseño cuantitativo, no a una descripción. Y «de</a:t>
            </a:r>
          </a:p>
          <a:p>
            <a:r>
              <a:t>forma confiable» no queda a juicio cualitativo: se operacionaliza como reducción</a:t>
            </a:r>
          </a:p>
          <a:p>
            <a:r>
              <a:t>del error cuadrático medio respecto de una línea base declarada, con prueba de</a:t>
            </a:r>
          </a:p>
          <a:p>
            <a:r>
              <a:t>hipótesis formal que descarte el azar.</a:t>
            </a:r>
          </a:p>
          <a:p/>
          <a:p>
            <a:r>
              <a:t>Los cuatro objetivos específicos siguen un orden lógico: primero caracterizo el</a:t>
            </a:r>
          </a:p>
          <a:p>
            <a:r>
              <a:t>ruido, porque las covarianzas son insumo del modelo y no resultado; luego</a:t>
            </a:r>
          </a:p>
          <a:p>
            <a:r>
              <a:t>modelo, después implemento, y finalmente valido.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3 — MARCO TEÓRICO Y VACÍO · 3:00 – 4:30]</a:t>
            </a:r>
          </a:p>
          <a:p/>
          <a:p>
            <a:r>
              <a:t>El marco teórico se apoya en cuatro pilares.</a:t>
            </a:r>
          </a:p>
          <a:p/>
          <a:p>
            <a:r>
              <a:t>El primero: Lee, en 2008, advertía que el desafío de los sistemas ciberfísicos</a:t>
            </a:r>
          </a:p>
          <a:p>
            <a:r>
              <a:t>no es computacional sino de fidelidad del acoplamiento entre lo físico y lo</a:t>
            </a:r>
          </a:p>
          <a:p>
            <a:r>
              <a:t>computacional.</a:t>
            </a:r>
          </a:p>
          <a:p/>
          <a:p>
            <a:r>
              <a:t>El segundo estructura toda mi posición. Sepasgozar distingue la sombra digital</a:t>
            </a:r>
          </a:p>
          <a:p>
            <a:r>
              <a:t>—una réplica que espeja datos crudos— del gemelo digital, que procesa y depura</a:t>
            </a:r>
          </a:p>
          <a:p>
            <a:r>
              <a:t>la incertidumbre. Ese es el criterio que adopto: sin depuración matemática</a:t>
            </a:r>
          </a:p>
          <a:p>
            <a:r>
              <a:t>explícita, lo que se construye no es un gemelo digital, es una sombra de alta</a:t>
            </a:r>
          </a:p>
          <a:p>
            <a:r>
              <a:t>resolución.</a:t>
            </a:r>
          </a:p>
          <a:p/>
          <a:p>
            <a:r>
              <a:t>El tercero es la teoría de estimación óptima: Kalman en 1960, consolidada por</a:t>
            </a:r>
          </a:p>
          <a:p>
            <a:r>
              <a:t>Simon.</a:t>
            </a:r>
          </a:p>
          <a:p/>
          <a:p>
            <a:r>
              <a:t>El cuarto son los precedentes en el dominio: Apelt demostró en molienda SAG que</a:t>
            </a:r>
          </a:p>
          <a:p>
            <a:r>
              <a:t>variables internas no instrumentadas sí son reconstruibles, y Bárzaga-Martell</a:t>
            </a:r>
          </a:p>
          <a:p>
            <a:r>
              <a:t>aplicó filtros de Kalman a lixiviación de cobre en contexto chileno.</a:t>
            </a:r>
          </a:p>
          <a:p/>
          <a:p>
            <a:r>
              <a:t>El vacío surge de cruzarlos. La teoría está madura y la literatura minera</a:t>
            </a:r>
          </a:p>
          <a:p>
            <a:r>
              <a:t>reconoce el problema del dato, pero ambos cuerpos se han desarrollado sin</a:t>
            </a:r>
          </a:p>
          <a:p>
            <a:r>
              <a:t>contacto. Y quiero ser explícito: no reclamo novedad algorítmica —el filtro</a:t>
            </a:r>
          </a:p>
          <a:p>
            <a:r>
              <a:t>tiene sesenta años— sino aporte de diseño, integración y validación.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4 — METODOLOGÍA · 4:30 – 6:30]</a:t>
            </a:r>
          </a:p>
          <a:p/>
          <a:p>
            <a:r>
              <a:t>El enfoque es cuantitativo, con diseño experimental por simulación estocástica</a:t>
            </a:r>
          </a:p>
          <a:p>
            <a:r>
              <a:t>controlada. Destaco cuatro decisiones.</a:t>
            </a:r>
          </a:p>
          <a:p/>
          <a:p>
            <a:r>
              <a:t>La primera, la más importante: el modelo tiene DOS estados, no uno. El vector de</a:t>
            </a:r>
          </a:p>
          <a:p>
            <a:r>
              <a:t>estado es el volumen y su derivada, la tasa de llenado. Y el punto es que yo</a:t>
            </a:r>
          </a:p>
          <a:p>
            <a:r>
              <a:t>solo observo el volumen; la tasa no tiene ningún sensor.</a:t>
            </a:r>
          </a:p>
          <a:p/>
          <a:p>
            <a:r>
              <a:t>La segunda: eso no lo asumo, lo demuestro. Verifiqué que el rango de la matriz</a:t>
            </a:r>
          </a:p>
          <a:p>
            <a:r>
              <a:t>de observabilidad es igual a dos. Eso significa que la variable latente es</a:t>
            </a:r>
          </a:p>
          <a:p>
            <a:r>
              <a:t>matemáticamente reconstruible a partir de la secuencia de mediciones de la única</a:t>
            </a:r>
          </a:p>
          <a:p>
            <a:r>
              <a:t>variable que sí observo. Es la justificación formal del modelo de dos estados.</a:t>
            </a:r>
          </a:p>
          <a:p/>
          <a:p>
            <a:r>
              <a:t>La tercera: el estimador implementa el ciclo predicción-corrección con</a:t>
            </a:r>
          </a:p>
          <a:p>
            <a:r>
              <a:t>actualización de covarianza en forma de Joseph, por estabilidad numérica.</a:t>
            </a:r>
          </a:p>
          <a:p/>
          <a:p>
            <a:r>
              <a:t>La cuarta es el experimento: mil pasos de un segundo y cincuenta corridas</a:t>
            </a:r>
          </a:p>
          <a:p>
            <a:r>
              <a:t>independientes generadas con SeedSequence desde una semilla fija, lo que da</a:t>
            </a:r>
          </a:p>
          <a:p>
            <a:r>
              <a:t>flujos aleatorios independientes y a la vez reproducibilidad exacta. La línea</a:t>
            </a:r>
          </a:p>
          <a:p>
            <a:r>
              <a:t>base está declarada: la lectura cruda del SCADA, y diferencias finitas sobre esa</a:t>
            </a:r>
          </a:p>
          <a:p>
            <a:r>
              <a:t>señal para la tasa, que es lo único que un SCADA convencional podría hacer.</a:t>
            </a:r>
          </a:p>
          <a:p/>
          <a:p>
            <a:r>
              <a:t>A la derecha, la estrategia de validación. Destaco que la normalidad la</a:t>
            </a:r>
          </a:p>
          <a:p>
            <a:r>
              <a:t>verifico con Shapiro-Wilk en lugar de asumirla, y que incorporé Wilcoxon como</a:t>
            </a:r>
          </a:p>
          <a:p>
            <a:r>
              <a:t>respaldo no paramétrico por si ese supuesto fallaba. Ya veremos que falló, y que</a:t>
            </a:r>
          </a:p>
          <a:p>
            <a:r>
              <a:t>el diseño estaba preparado.</a:t>
            </a:r>
          </a:p>
          <a:p/>
          <a:p>
            <a:r>
              <a:t>Y un ajuste que documento con transparencia: el parámetro q22 fue recalibrado de</a:t>
            </a:r>
          </a:p>
          <a:p>
            <a:r>
              <a:t>0,05 a uno por diez a la menos cuatro, porque el valor original producía un</a:t>
            </a:r>
          </a:p>
          <a:p>
            <a:r>
              <a:t>paseo aleatorio trece veces mayor que la tasa nominal de extracción. Era</a:t>
            </a:r>
          </a:p>
          <a:p>
            <a:r>
              <a:t>físicamente implausible.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5a — RESULTADOS · 6:30 – 7:30]</a:t>
            </a:r>
          </a:p>
          <a:p/>
          <a:p>
            <a:r>
              <a:t>Estos son los resultados, sobre cincuenta corridas.</a:t>
            </a:r>
          </a:p>
          <a:p/>
          <a:p>
            <a:r>
              <a:t>En el volumen, el error cuadrático medio baja de 4,97 a 0,52: una reducción del</a:t>
            </a:r>
          </a:p>
          <a:p>
            <a:r>
              <a:t>89,57 por ciento. Como verificación interna, noten que el MSE crudo coincide con</a:t>
            </a:r>
          </a:p>
          <a:p>
            <a:r>
              <a:t>la varianza de ruido que inyecté, R igual a cinco.</a:t>
            </a:r>
          </a:p>
          <a:p/>
          <a:p>
            <a:r>
              <a:t>Pero el resultado de mayor relevancia conceptual es el tercero. La tasa de</a:t>
            </a:r>
          </a:p>
          <a:p>
            <a:r>
              <a:t>llenado no tiene ningún sensor. Lo único que un SCADA convencional puede hacer</a:t>
            </a:r>
          </a:p>
          <a:p>
            <a:r>
              <a:t>es derivar la señal cruda, y eso da un error de 3,69 sobre una magnitud cuyo</a:t>
            </a:r>
          </a:p>
          <a:p>
            <a:r>
              <a:t>valor nominal es 0,8: entrega ruido, no información. El módulo lo reduce a</a:t>
            </a:r>
          </a:p>
          <a:p>
            <a:r>
              <a:t>0,067, un 98 por ciento mejor.</a:t>
            </a:r>
          </a:p>
          <a:p/>
          <a:p>
            <a:r>
              <a:t>En el gráfico, el diente de sierra es el ciclo operacional real: descarga</a:t>
            </a:r>
          </a:p>
          <a:p>
            <a:r>
              <a:t>discontinua de camiones sobre extracción continua. El módulo sigue la</a:t>
            </a:r>
          </a:p>
          <a:p>
            <a:r>
              <a:t>trayectoria verdadera pese a que la nube del SCADA es ilegible.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[BLOQUE 6 — DISCUSIÓN, CONCLUSIONES Y APORTES · 8:30 – 10:00]</a:t>
            </a:r>
          </a:p>
          <a:p/>
          <a:p>
            <a:r>
              <a:t>Cierro conectando resultados con objetivos y teoría.</a:t>
            </a:r>
          </a:p>
          <a:p/>
          <a:p>
            <a:r>
              <a:t>Los cuatro objetivos específicos se cumplieron, y cada uno generó su entregable</a:t>
            </a:r>
          </a:p>
          <a:p>
            <a:r>
              <a:t>auditable: covarianzas con fundamento físico, modelo con observabilidad</a:t>
            </a:r>
          </a:p>
          <a:p>
            <a:r>
              <a:t>verificada, módulo operativo y desacoplado, y validación estadística completa.</a:t>
            </a:r>
          </a:p>
          <a:p/>
          <a:p>
            <a:r>
              <a:t>Dos hallazgos con implicancia práctica.</a:t>
            </a:r>
          </a:p>
          <a:p/>
          <a:p>
            <a:r>
              <a:t>El primero invierte la intuición: el aporte del módulo crece con la degradación</a:t>
            </a:r>
          </a:p>
          <a:p>
            <a:r>
              <a:t>del entorno. Uno esperaría que en condiciones hostiles el filtrado perdiera</a:t>
            </a:r>
          </a:p>
          <a:p>
            <a:r>
              <a:t>eficacia; ocurre lo contrario. El módulo es más valioso justamente donde más se</a:t>
            </a:r>
          </a:p>
          <a:p>
            <a:r>
              <a:t>necesita.</a:t>
            </a:r>
          </a:p>
          <a:p/>
          <a:p>
            <a:r>
              <a:t>El segundo es de ingeniería directa: lo que gobierna el desempeño es la RAZÓN</a:t>
            </a:r>
          </a:p>
          <a:p>
            <a:r>
              <a:t>entre las covarianzas, no sus valores absolutos. Un error de calibración</a:t>
            </a:r>
          </a:p>
          <a:p>
            <a:r>
              <a:t>proporcional es prácticamente inofensivo, y eso reduce la dificultad de</a:t>
            </a:r>
          </a:p>
          <a:p>
            <a:r>
              <a:t>sintonizar el filtro en terreno, que es la principal barrera de adopción</a:t>
            </a:r>
          </a:p>
          <a:p>
            <a:r>
              <a:t>industrial de estos estimadores.</a:t>
            </a:r>
          </a:p>
          <a:p/>
          <a:p>
            <a:r>
              <a:t>Declaro las limitaciones: régimen lineal, datos sintéticos y sin validación con</a:t>
            </a:r>
          </a:p>
          <a:p>
            <a:r>
              <a:t>telemetría de faena real. Esa validación es la primera línea de continuidad.</a:t>
            </a:r>
          </a:p>
          <a:p/>
          <a:p>
            <a:r>
              <a:t>Sobre los aportes, no reclamo novedad algorítmica. Aporto en el plano</a:t>
            </a:r>
          </a:p>
          <a:p>
            <a:r>
              <a:t>arquitectónico, porque formulo la estimación estocástica como componente de</a:t>
            </a:r>
          </a:p>
          <a:p>
            <a:r>
              <a:t>diseño del gemelo digital y no como instrumento de control; en el empírico,</a:t>
            </a:r>
          </a:p>
          <a:p>
            <a:r>
              <a:t>porque entrego evidencia cuantificada de que la diferencia entre sombra y gemelo</a:t>
            </a:r>
          </a:p>
          <a:p>
            <a:r>
              <a:t>digital es medible; y en el metodológico, porque entrego un artefacto</a:t>
            </a:r>
          </a:p>
          <a:p>
            <a:r>
              <a:t>reproducible byte a byte.</a:t>
            </a:r>
          </a:p>
          <a:p/>
          <a:p>
            <a:r>
              <a:t>Termino precisando la afirmación inicial. Yo decía que la IA industrial necesita</a:t>
            </a:r>
          </a:p>
          <a:p>
            <a:r>
              <a:t>limpiar matemáticamente sus datos. Los resultados me permiten ser más exacto: no</a:t>
            </a:r>
          </a:p>
          <a:p>
            <a:r>
              <a:t>se trata solo de limpiar, se trata de reconstruir. En un sistema parcialmente</a:t>
            </a:r>
          </a:p>
          <a:p>
            <a:r>
              <a:t>observable, esta capa produce información que la instrumentación no puede</a:t>
            </a:r>
          </a:p>
          <a:p>
            <a:r>
              <a:t>entregar. Muchas gracias.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[TRAZABILIDAD — diapositiva de respaldo, no se expone]</a:t>
            </a:r>
          </a:p>
          <a:p/>
          <a:p>
            <a:r>
              <a:t>Esta diapositiva queda como respaldo para las preguntas. Los rótulos</a:t>
            </a:r>
          </a:p>
          <a:p>
            <a:r>
              <a:t>corresponden a los títulos reales de las secciones de cada producto, no a los</a:t>
            </a:r>
          </a:p>
          <a:p>
            <a:r>
              <a:t>genéricos de la plantilla. La correspondencia está documentada formalmente en el</a:t>
            </a:r>
          </a:p>
          <a:p>
            <a:r>
              <a:t>Anexo B del informe, y ambos productos comparten el mismo archivo de</a:t>
            </a:r>
          </a:p>
          <a:p>
            <a:r>
              <a:t>referencias, las mismas figuras y los mismos datos de origen.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 preguntas · 10 min]</a:t>
            </a:r>
          </a:p>
          <a:p/>
          <a:p>
            <a:r>
              <a:t>Recordatorios para la ronda de preguntas:</a:t>
            </a:r>
          </a:p>
          <a:p>
            <a:r>
              <a:t>- Fundamentar cada respuesta en el diseño metodológico, los resultados o una</a:t>
            </a:r>
          </a:p>
          <a:p>
            <a:r>
              <a:t>  decisión documentada del estudio.</a:t>
            </a:r>
          </a:p>
          <a:p>
            <a:r>
              <a:t>- Si una pregunta excede el alcance declarado, decirlo explícitamente y remitir</a:t>
            </a:r>
          </a:p>
          <a:p>
            <a:r>
              <a:t>  a las líneas de continuidad.</a:t>
            </a:r>
          </a:p>
          <a:p>
            <a:r>
              <a:t>- Las cifras clave: 89,57 % en volumen, 98,17 % en la tasa latente,</a:t>
            </a:r>
          </a:p>
          <a:p>
            <a:r>
              <a:t>  t(49) = 135,24, d de Cohen = 19,13, rango de observabilidad = 2.</a:t>
            </a:r>
          </a:p>
          <a:p>
            <a:r>
              <a:t>- Ver la batería de preguntas anticipadas en el documento de preparación.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[BLOQUE 5b — VALIDACIÓN ESTADÍSTICA · 7:30 – 8:30]</a:t>
            </a:r>
          </a:p>
          <a:p/>
          <a:p>
            <a:r>
              <a:t>¿Podría esa mejora deberse al azar estocástico? No, y lo verifiqué de dos formas</a:t>
            </a:r>
          </a:p>
          <a:p>
            <a:r>
              <a:t>independientes.</a:t>
            </a:r>
          </a:p>
          <a:p/>
          <a:p>
            <a:r>
              <a:t>La reducción media del RMSE es 1,51 metros cúbicos, con un intervalo de</a:t>
            </a:r>
          </a:p>
          <a:p>
            <a:r>
              <a:t>confianza que no se acerca al cero. La t pareada da 135 con 49 grados de</a:t>
            </a:r>
          </a:p>
          <a:p>
            <a:r>
              <a:t>libertad, y la d de Cohen es 19: un orden de magnitud sobre el umbral de efecto</a:t>
            </a:r>
          </a:p>
          <a:p>
            <a:r>
              <a:t>grande.</a:t>
            </a:r>
          </a:p>
          <a:p/>
          <a:p>
            <a:r>
              <a:t>Ahora, seré transparente: Shapiro-Wilk RECHAZA la normalidad, con p igual a</a:t>
            </a:r>
          </a:p>
          <a:p>
            <a:r>
              <a:t>0,023. Aplicar mecánicamente la t sería cuestionable. Por eso el diseño</a:t>
            </a:r>
          </a:p>
          <a:p>
            <a:r>
              <a:t>incorporó Wilcoxon desde el inicio, que no exige normalidad y confirma la</a:t>
            </a:r>
          </a:p>
          <a:p>
            <a:r>
              <a:t>conclusión. Ambas pruebas coinciden.</a:t>
            </a:r>
          </a:p>
          <a:p/>
          <a:p>
            <a:r>
              <a:t>Sobre robustez: la reducción crece con la degradación, del 83 al 97 por ciento;</a:t>
            </a:r>
          </a:p>
          <a:p>
            <a:r>
              <a:t>el módulo se acentúa donde más se necesita. Y al desajustar las covarianzas</a:t>
            </a:r>
          </a:p>
          <a:p>
            <a:r>
              <a:t>hasta cien veces, solo tres de veinticinco casos resultan peores que no filtrar.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5E"/>
        </a:solidFill>
      </p:bgPr>
    </p:bg>
    <p:spTree>
      <p:nvGrpSpPr>
        <p:cNvPr id="1" name=""/>
        <p:cNvGrpSpPr/>
        <p:nvPr/>
      </p:nvGrpSpPr>
      <p:grpSpPr>
        <a:xfrm>
          <a:off x="0" y="0"/>
          <a:ext cx="0" cy="0"/>
          <a:chOff x="0" y="0"/>
          <a:chExt cx="0" cy="0"/>
        </a:xfrm>
      </p:grpSpPr>
      <p:sp>
        <p:nvSpPr>
          <p:cNvPr id="2" name="Shape 0"/>
          <p:cNvSpPr/>
          <p:nvPr/>
        </p:nvSpPr>
        <p:spPr>
          <a:xfrm>
            <a:off x="548640" y="914400"/>
            <a:ext cx="822960" cy="128016"/>
          </a:xfrm>
          <a:prstGeom prst="rect">
            <a:avLst/>
          </a:prstGeom>
          <a:solidFill>
            <a:srgbClr val="C8102E"/>
          </a:solidFill>
          <a:ln/>
        </p:spPr>
      </p:sp>
      <p:sp>
        <p:nvSpPr>
          <p:cNvPr id="3" name="Text 1"/>
          <p:cNvSpPr txBox="1"/>
          <p:nvPr/>
        </p:nvSpPr>
        <p:spPr>
          <a:xfrm>
            <a:off x="548640" y="502920"/>
            <a:ext cx="82296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UNIVERSIDAD ANDRÉS BELLO</a:t>
            </a:r>
            <a:endParaRPr lang="en-US" sz="1300" dirty="0"/>
          </a:p>
        </p:txBody>
      </p:sp>
      <p:sp>
        <p:nvSpPr>
          <p:cNvPr id="4" name="Text 2"/>
          <p:cNvSpPr txBox="1"/>
          <p:nvPr/>
        </p:nvSpPr>
        <p:spPr>
          <a:xfrm>
            <a:off x="548640" y="1371600"/>
            <a:ext cx="10515600" cy="1737360"/>
          </a:xfrm>
          <a:prstGeom prst="rect">
            <a:avLst/>
          </a:prstGeom>
          <a:noFill/>
          <a:ln/>
        </p:spPr>
        <p:txBody>
          <a:bodyPr wrap="square" lIns="0" tIns="0" rIns="0" bIns="0" rtlCol="0" anchor="t"/>
          <a:lstStyle/>
          <a:p>
            <a:pPr algn="l" indent="0" marL="0">
              <a:lnSpc>
                <a:spcPct val="105000"/>
              </a:lnSpc>
              <a:spcBef>
                <a:spcPts val="0"/>
              </a:spcBef>
              <a:spcAft>
                <a:spcPts val="0"/>
              </a:spcAft>
              <a:buNone/>
            </a:pPr>
            <a:r>
              <a:rPr sz="2400" b="1" i="0">
                <a:solidFill>
                  <a:srgbClr val="FFFFFF"/>
                </a:solidFill>
                <a:latin typeface="Cambria"/>
              </a:rPr>
              <a:t>Diseño y validación mediante simulación computacional de un módulo de software analítico para la estimación de estados en un gemelo digital de chancado primario</a:t>
            </a:r>
            <a:endParaRPr lang="en-US" sz="3400" dirty="0"/>
          </a:p>
        </p:txBody>
      </p:sp>
      <p:sp>
        <p:nvSpPr>
          <p:cNvPr id="5" name="Text 3"/>
          <p:cNvSpPr txBox="1"/>
          <p:nvPr/>
        </p:nvSpPr>
        <p:spPr>
          <a:xfrm>
            <a:off x="548640" y="3383280"/>
            <a:ext cx="100584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r>
              <a:rPr sz="1500" b="0" i="0">
                <a:solidFill>
                  <a:srgbClr val="FFFFFF"/>
                </a:solidFill>
                <a:latin typeface="Calibri"/>
              </a:rPr>
              <a:t>Autor:  Daniel Alejandro Prado Correa</a:t>
            </a:r>
            <a:endParaRPr lang="en-US" sz="1500" dirty="0"/>
          </a:p>
        </p:txBody>
      </p:sp>
      <p:sp>
        <p:nvSpPr>
          <p:cNvPr id="6" name="Text 4"/>
          <p:cNvSpPr txBox="1"/>
          <p:nvPr/>
        </p:nvSpPr>
        <p:spPr>
          <a:xfrm>
            <a:off x="548640" y="3794760"/>
            <a:ext cx="100584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r>
              <a:rPr sz="1500" b="0" i="0">
                <a:solidFill>
                  <a:srgbClr val="FFFFFF"/>
                </a:solidFill>
                <a:latin typeface="Calibri"/>
              </a:rPr>
              <a:t>Docente guía:  Omar Iván Salinas Silva</a:t>
            </a:r>
            <a:endParaRPr lang="en-US" sz="1500" dirty="0"/>
          </a:p>
        </p:txBody>
      </p:sp>
      <p:sp>
        <p:nvSpPr>
          <p:cNvPr id="7" name="Text 5"/>
          <p:cNvSpPr txBox="1"/>
          <p:nvPr/>
        </p:nvSpPr>
        <p:spPr>
          <a:xfrm>
            <a:off x="548640" y="4206240"/>
            <a:ext cx="109728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pPr indent="0" marL="0">
              <a:buNone/>
            </a:pPr>
            <a:pPr indent="0" marL="0">
              <a:buNone/>
            </a:pPr>
            <a:r>
              <a:rPr sz="1400" b="0" i="0">
                <a:solidFill>
                  <a:srgbClr val="FFFFFF"/>
                </a:solidFill>
                <a:latin typeface="Calibri"/>
              </a:rPr>
              <a:t>Asignatura:  Proyecto de Investigación (ACIF3002)   ·   Carrera:  Ingeniería Civil Informática</a:t>
            </a:r>
            <a:endParaRPr lang="en-US" sz="1400" dirty="0"/>
          </a:p>
        </p:txBody>
      </p:sp>
      <p:sp>
        <p:nvSpPr>
          <p:cNvPr id="8" name="Text 6"/>
          <p:cNvSpPr txBox="1"/>
          <p:nvPr/>
        </p:nvSpPr>
        <p:spPr>
          <a:xfrm>
            <a:off x="548640" y="4617720"/>
            <a:ext cx="10058400" cy="365760"/>
          </a:xfrm>
          <a:prstGeom prst="rect">
            <a:avLst/>
          </a:prstGeom>
          <a:noFill/>
          <a:ln/>
        </p:spPr>
        <p:txBody>
          <a:bodyPr wrap="square" lIns="0" tIns="0" rIns="0" bIns="0" rtlCol="0" anchor="ctr"/>
          <a:lstStyle/>
          <a:p>
            <a:pPr indent="0" marL="0">
              <a:lnSpc>
                <a:spcPct val="105000"/>
              </a:lnSpc>
              <a:spcBef>
                <a:spcPts val="0"/>
              </a:spcBef>
              <a:spcAft>
                <a:spcPts val="0"/>
              </a:spcAft>
              <a:buNone/>
            </a:pPr>
            <a:pPr indent="0" marL="0">
              <a:buNone/>
            </a:pPr>
            <a:r>
              <a:rPr sz="1400" b="0" i="0">
                <a:solidFill>
                  <a:srgbClr val="FFFFFF"/>
                </a:solidFill>
                <a:latin typeface="Calibri"/>
              </a:rPr>
              <a:t>Fecha:  15/09/2026</a:t>
            </a:r>
            <a:endParaRPr lang="en-US" sz="1400" dirty="0"/>
          </a:p>
        </p:txBody>
      </p:sp>
      <p:sp>
        <p:nvSpPr>
          <p:cNvPr id="9" name="Text 7"/>
          <p:cNvSpPr txBox="1"/>
          <p:nvPr/>
        </p:nvSpPr>
        <p:spPr>
          <a:xfrm>
            <a:off x="548640" y="5852160"/>
            <a:ext cx="10972800" cy="365760"/>
          </a:xfrm>
          <a:prstGeom prst="rect">
            <a:avLst/>
          </a:prstGeom>
          <a:noFill/>
          <a:ln/>
        </p:spPr>
        <p:txBody>
          <a:bodyPr wrap="square" lIns="0" tIns="0" rIns="0" bIns="0" rtlCol="0" anchor="ctr"/>
          <a:lstStyle/>
          <a:p>
            <a:pPr indent="0" marL="0">
              <a:buNone/>
            </a:pPr>
            <a:r>
              <a:rPr lang="en-US" sz="1300" i="1" dirty="0">
                <a:solidFill>
                  <a:srgbClr val="9FB6D4"/>
                </a:solidFill>
                <a:latin typeface="Calibri" pitchFamily="34" charset="0"/>
                <a:ea typeface="Calibri" pitchFamily="34" charset="-122"/>
                <a:cs typeface="Calibri" pitchFamily="34" charset="-120"/>
              </a:rPr>
              <a:t>Defensa del Proyecto de Título  ·  Exposición 10 min + Preguntas 10 min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ESTRUCTURA DE LA DEFENSA</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Hoja de ruta — 10 minutos</a:t>
            </a:r>
            <a:endParaRPr lang="en-US" sz="3000" dirty="0"/>
          </a:p>
        </p:txBody>
      </p:sp>
      <p:sp>
        <p:nvSpPr>
          <p:cNvPr id="4" name="Shape 2"/>
          <p:cNvSpPr/>
          <p:nvPr/>
        </p:nvSpPr>
        <p:spPr>
          <a:xfrm>
            <a:off x="548640" y="1874520"/>
            <a:ext cx="5349240" cy="1097280"/>
          </a:xfrm>
          <a:prstGeom prst="roundRect">
            <a:avLst>
              <a:gd name="adj" fmla="val 6667"/>
            </a:avLst>
          </a:prstGeom>
          <a:solidFill>
            <a:srgbClr val="EEF4FA"/>
          </a:solidFill>
          <a:ln w="12700">
            <a:solidFill>
              <a:srgbClr val="D8DEE6"/>
            </a:solidFill>
            <a:prstDash val="solid"/>
          </a:ln>
        </p:spPr>
      </p:sp>
      <p:sp>
        <p:nvSpPr>
          <p:cNvPr id="5" name="Shape 3"/>
          <p:cNvSpPr/>
          <p:nvPr/>
        </p:nvSpPr>
        <p:spPr>
          <a:xfrm>
            <a:off x="777240" y="2167128"/>
            <a:ext cx="512064" cy="512064"/>
          </a:xfrm>
          <a:prstGeom prst="ellipse">
            <a:avLst/>
          </a:prstGeom>
          <a:solidFill>
            <a:srgbClr val="173A5E"/>
          </a:solidFill>
          <a:ln/>
        </p:spPr>
      </p:sp>
      <p:sp>
        <p:nvSpPr>
          <p:cNvPr id="6" name="Text 4"/>
          <p:cNvSpPr txBox="1"/>
          <p:nvPr/>
        </p:nvSpPr>
        <p:spPr>
          <a:xfrm>
            <a:off x="777240" y="21671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463040" y="205740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Problema y contexto</a:t>
            </a:r>
            <a:endParaRPr lang="en-US" sz="1600" dirty="0"/>
          </a:p>
        </p:txBody>
      </p:sp>
      <p:sp>
        <p:nvSpPr>
          <p:cNvPr id="8" name="Text 6"/>
          <p:cNvSpPr txBox="1"/>
          <p:nvPr/>
        </p:nvSpPr>
        <p:spPr>
          <a:xfrm>
            <a:off x="1463040" y="247802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~1.5 min</a:t>
            </a:r>
            <a:endParaRPr lang="en-US" sz="1200" dirty="0"/>
          </a:p>
        </p:txBody>
      </p:sp>
      <p:sp>
        <p:nvSpPr>
          <p:cNvPr id="9" name="Shape 7"/>
          <p:cNvSpPr/>
          <p:nvPr/>
        </p:nvSpPr>
        <p:spPr>
          <a:xfrm>
            <a:off x="6172200" y="1874520"/>
            <a:ext cx="5349240" cy="1097280"/>
          </a:xfrm>
          <a:prstGeom prst="roundRect">
            <a:avLst>
              <a:gd name="adj" fmla="val 6667"/>
            </a:avLst>
          </a:prstGeom>
          <a:solidFill>
            <a:srgbClr val="EEF4FA"/>
          </a:solidFill>
          <a:ln w="12700">
            <a:solidFill>
              <a:srgbClr val="D8DEE6"/>
            </a:solidFill>
            <a:prstDash val="solid"/>
          </a:ln>
        </p:spPr>
      </p:sp>
      <p:sp>
        <p:nvSpPr>
          <p:cNvPr id="10" name="Shape 8"/>
          <p:cNvSpPr/>
          <p:nvPr/>
        </p:nvSpPr>
        <p:spPr>
          <a:xfrm>
            <a:off x="6400800" y="2167128"/>
            <a:ext cx="512064" cy="512064"/>
          </a:xfrm>
          <a:prstGeom prst="ellipse">
            <a:avLst/>
          </a:prstGeom>
          <a:solidFill>
            <a:srgbClr val="173A5E"/>
          </a:solidFill>
          <a:ln/>
        </p:spPr>
      </p:sp>
      <p:sp>
        <p:nvSpPr>
          <p:cNvPr id="11" name="Text 9"/>
          <p:cNvSpPr txBox="1"/>
          <p:nvPr/>
        </p:nvSpPr>
        <p:spPr>
          <a:xfrm>
            <a:off x="6400800" y="21671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7086600" y="205740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Pregunta y objetivos</a:t>
            </a:r>
            <a:endParaRPr lang="en-US" sz="1600" dirty="0"/>
          </a:p>
        </p:txBody>
      </p:sp>
      <p:sp>
        <p:nvSpPr>
          <p:cNvPr id="13" name="Text 11"/>
          <p:cNvSpPr txBox="1"/>
          <p:nvPr/>
        </p:nvSpPr>
        <p:spPr>
          <a:xfrm>
            <a:off x="7086600" y="247802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~1 min</a:t>
            </a:r>
            <a:endParaRPr lang="en-US" sz="1200" dirty="0"/>
          </a:p>
        </p:txBody>
      </p:sp>
      <p:sp>
        <p:nvSpPr>
          <p:cNvPr id="14" name="Shape 12"/>
          <p:cNvSpPr/>
          <p:nvPr/>
        </p:nvSpPr>
        <p:spPr>
          <a:xfrm>
            <a:off x="548640" y="3200400"/>
            <a:ext cx="5349240" cy="1097280"/>
          </a:xfrm>
          <a:prstGeom prst="roundRect">
            <a:avLst>
              <a:gd name="adj" fmla="val 6667"/>
            </a:avLst>
          </a:prstGeom>
          <a:solidFill>
            <a:srgbClr val="EEF4FA"/>
          </a:solidFill>
          <a:ln w="12700">
            <a:solidFill>
              <a:srgbClr val="D8DEE6"/>
            </a:solidFill>
            <a:prstDash val="solid"/>
          </a:ln>
        </p:spPr>
      </p:sp>
      <p:sp>
        <p:nvSpPr>
          <p:cNvPr id="15" name="Shape 13"/>
          <p:cNvSpPr/>
          <p:nvPr/>
        </p:nvSpPr>
        <p:spPr>
          <a:xfrm>
            <a:off x="777240" y="3493008"/>
            <a:ext cx="512064" cy="512064"/>
          </a:xfrm>
          <a:prstGeom prst="ellipse">
            <a:avLst/>
          </a:prstGeom>
          <a:solidFill>
            <a:srgbClr val="173A5E"/>
          </a:solidFill>
          <a:ln/>
        </p:spPr>
      </p:sp>
      <p:sp>
        <p:nvSpPr>
          <p:cNvPr id="16" name="Text 14"/>
          <p:cNvSpPr txBox="1"/>
          <p:nvPr/>
        </p:nvSpPr>
        <p:spPr>
          <a:xfrm>
            <a:off x="777240" y="349300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1463040" y="338328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Marco teórico</a:t>
            </a:r>
            <a:endParaRPr lang="en-US" sz="1600" dirty="0"/>
          </a:p>
        </p:txBody>
      </p:sp>
      <p:sp>
        <p:nvSpPr>
          <p:cNvPr id="18" name="Text 16"/>
          <p:cNvSpPr txBox="1"/>
          <p:nvPr/>
        </p:nvSpPr>
        <p:spPr>
          <a:xfrm>
            <a:off x="1463040" y="380390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~1.5 min</a:t>
            </a:r>
            <a:endParaRPr lang="en-US" sz="1200" dirty="0"/>
          </a:p>
        </p:txBody>
      </p:sp>
      <p:sp>
        <p:nvSpPr>
          <p:cNvPr id="19" name="Shape 17"/>
          <p:cNvSpPr/>
          <p:nvPr/>
        </p:nvSpPr>
        <p:spPr>
          <a:xfrm>
            <a:off x="6172200" y="3200400"/>
            <a:ext cx="5349240" cy="1097280"/>
          </a:xfrm>
          <a:prstGeom prst="roundRect">
            <a:avLst>
              <a:gd name="adj" fmla="val 6667"/>
            </a:avLst>
          </a:prstGeom>
          <a:solidFill>
            <a:srgbClr val="EEF4FA"/>
          </a:solidFill>
          <a:ln w="12700">
            <a:solidFill>
              <a:srgbClr val="D8DEE6"/>
            </a:solidFill>
            <a:prstDash val="solid"/>
          </a:ln>
        </p:spPr>
      </p:sp>
      <p:sp>
        <p:nvSpPr>
          <p:cNvPr id="20" name="Shape 18"/>
          <p:cNvSpPr/>
          <p:nvPr/>
        </p:nvSpPr>
        <p:spPr>
          <a:xfrm>
            <a:off x="6400800" y="3493008"/>
            <a:ext cx="512064" cy="512064"/>
          </a:xfrm>
          <a:prstGeom prst="ellipse">
            <a:avLst/>
          </a:prstGeom>
          <a:solidFill>
            <a:srgbClr val="173A5E"/>
          </a:solidFill>
          <a:ln/>
        </p:spPr>
      </p:sp>
      <p:sp>
        <p:nvSpPr>
          <p:cNvPr id="21" name="Text 19"/>
          <p:cNvSpPr txBox="1"/>
          <p:nvPr/>
        </p:nvSpPr>
        <p:spPr>
          <a:xfrm>
            <a:off x="6400800" y="349300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086600" y="338328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Metodología</a:t>
            </a:r>
            <a:endParaRPr lang="en-US" sz="1600" dirty="0"/>
          </a:p>
        </p:txBody>
      </p:sp>
      <p:sp>
        <p:nvSpPr>
          <p:cNvPr id="23" name="Text 21"/>
          <p:cNvSpPr txBox="1"/>
          <p:nvPr/>
        </p:nvSpPr>
        <p:spPr>
          <a:xfrm>
            <a:off x="7086600" y="380390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~2 min</a:t>
            </a:r>
            <a:endParaRPr lang="en-US" sz="1200" dirty="0"/>
          </a:p>
        </p:txBody>
      </p:sp>
      <p:sp>
        <p:nvSpPr>
          <p:cNvPr id="24" name="Shape 22"/>
          <p:cNvSpPr/>
          <p:nvPr/>
        </p:nvSpPr>
        <p:spPr>
          <a:xfrm>
            <a:off x="548640" y="4526280"/>
            <a:ext cx="5349240" cy="1097280"/>
          </a:xfrm>
          <a:prstGeom prst="roundRect">
            <a:avLst>
              <a:gd name="adj" fmla="val 6667"/>
            </a:avLst>
          </a:prstGeom>
          <a:solidFill>
            <a:srgbClr val="EEF4FA"/>
          </a:solidFill>
          <a:ln w="12700">
            <a:solidFill>
              <a:srgbClr val="D8DEE6"/>
            </a:solidFill>
            <a:prstDash val="solid"/>
          </a:ln>
        </p:spPr>
      </p:sp>
      <p:sp>
        <p:nvSpPr>
          <p:cNvPr id="25" name="Shape 23"/>
          <p:cNvSpPr/>
          <p:nvPr/>
        </p:nvSpPr>
        <p:spPr>
          <a:xfrm>
            <a:off x="777240" y="4818888"/>
            <a:ext cx="512064" cy="512064"/>
          </a:xfrm>
          <a:prstGeom prst="ellipse">
            <a:avLst/>
          </a:prstGeom>
          <a:solidFill>
            <a:srgbClr val="173A5E"/>
          </a:solidFill>
          <a:ln/>
        </p:spPr>
      </p:sp>
      <p:sp>
        <p:nvSpPr>
          <p:cNvPr id="26" name="Text 24"/>
          <p:cNvSpPr txBox="1"/>
          <p:nvPr/>
        </p:nvSpPr>
        <p:spPr>
          <a:xfrm>
            <a:off x="777240" y="48188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1463040" y="470916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Resultados</a:t>
            </a:r>
            <a:endParaRPr lang="en-US" sz="1600" dirty="0"/>
          </a:p>
        </p:txBody>
      </p:sp>
      <p:sp>
        <p:nvSpPr>
          <p:cNvPr id="28" name="Text 26"/>
          <p:cNvSpPr txBox="1"/>
          <p:nvPr/>
        </p:nvSpPr>
        <p:spPr>
          <a:xfrm>
            <a:off x="1463040" y="512978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~2 min</a:t>
            </a:r>
            <a:endParaRPr lang="en-US" sz="1200" dirty="0"/>
          </a:p>
        </p:txBody>
      </p:sp>
      <p:sp>
        <p:nvSpPr>
          <p:cNvPr id="29" name="Shape 27"/>
          <p:cNvSpPr/>
          <p:nvPr/>
        </p:nvSpPr>
        <p:spPr>
          <a:xfrm>
            <a:off x="6172200" y="4526280"/>
            <a:ext cx="5349240" cy="1097280"/>
          </a:xfrm>
          <a:prstGeom prst="roundRect">
            <a:avLst>
              <a:gd name="adj" fmla="val 6667"/>
            </a:avLst>
          </a:prstGeom>
          <a:solidFill>
            <a:srgbClr val="EEF4FA"/>
          </a:solidFill>
          <a:ln w="12700">
            <a:solidFill>
              <a:srgbClr val="D8DEE6"/>
            </a:solidFill>
            <a:prstDash val="solid"/>
          </a:ln>
        </p:spPr>
      </p:sp>
      <p:sp>
        <p:nvSpPr>
          <p:cNvPr id="30" name="Shape 28"/>
          <p:cNvSpPr/>
          <p:nvPr/>
        </p:nvSpPr>
        <p:spPr>
          <a:xfrm>
            <a:off x="6400800" y="4818888"/>
            <a:ext cx="512064" cy="512064"/>
          </a:xfrm>
          <a:prstGeom prst="ellipse">
            <a:avLst/>
          </a:prstGeom>
          <a:solidFill>
            <a:srgbClr val="173A5E"/>
          </a:solidFill>
          <a:ln/>
        </p:spPr>
      </p:sp>
      <p:sp>
        <p:nvSpPr>
          <p:cNvPr id="31" name="Text 29"/>
          <p:cNvSpPr txBox="1"/>
          <p:nvPr/>
        </p:nvSpPr>
        <p:spPr>
          <a:xfrm>
            <a:off x="6400800" y="481888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Text 30"/>
          <p:cNvSpPr txBox="1"/>
          <p:nvPr/>
        </p:nvSpPr>
        <p:spPr>
          <a:xfrm>
            <a:off x="7086600" y="4709160"/>
            <a:ext cx="3657600" cy="457200"/>
          </a:xfrm>
          <a:prstGeom prst="rect">
            <a:avLst/>
          </a:prstGeom>
          <a:noFill/>
          <a:ln/>
        </p:spPr>
        <p:txBody>
          <a:bodyPr wrap="square" lIns="0" tIns="0" rIns="0" bIns="0" rtlCol="0" anchor="ctr"/>
          <a:lstStyle/>
          <a:p>
            <a:pPr indent="0" marL="0">
              <a:buNone/>
            </a:pPr>
            <a:r>
              <a:rPr lang="en-US" sz="1600" b="1" dirty="0">
                <a:solidFill>
                  <a:srgbClr val="173A5E"/>
                </a:solidFill>
                <a:latin typeface="Calibri" pitchFamily="34" charset="0"/>
                <a:ea typeface="Calibri" pitchFamily="34" charset="-122"/>
                <a:cs typeface="Calibri" pitchFamily="34" charset="-120"/>
              </a:rPr>
              <a:t>Discusión, conclusiones y aportes</a:t>
            </a:r>
            <a:endParaRPr lang="en-US" sz="1600" dirty="0"/>
          </a:p>
        </p:txBody>
      </p:sp>
      <p:sp>
        <p:nvSpPr>
          <p:cNvPr id="33" name="Text 31"/>
          <p:cNvSpPr txBox="1"/>
          <p:nvPr/>
        </p:nvSpPr>
        <p:spPr>
          <a:xfrm>
            <a:off x="7086600" y="5129784"/>
            <a:ext cx="4206240" cy="320040"/>
          </a:xfrm>
          <a:prstGeom prst="rect">
            <a:avLst/>
          </a:prstGeom>
          <a:noFill/>
          <a:ln/>
        </p:spPr>
        <p:txBody>
          <a:bodyPr wrap="square" lIns="0" tIns="0" rIns="0" bIns="0" rtlCol="0" anchor="ctr"/>
          <a:lstStyle/>
          <a:p>
            <a:pPr indent="0" marL="0">
              <a:buNone/>
            </a:pPr>
            <a:r>
              <a:rPr lang="en-US" sz="1200" i="1" dirty="0">
                <a:solidFill>
                  <a:srgbClr val="C8102E"/>
                </a:solidFill>
                <a:latin typeface="Calibri" pitchFamily="34" charset="0"/>
                <a:ea typeface="Calibri" pitchFamily="34" charset="-122"/>
                <a:cs typeface="Calibri" pitchFamily="34" charset="-120"/>
              </a:rPr>
              <a:t>~2 min</a:t>
            </a:r>
            <a:endParaRPr lang="en-US" sz="1200" dirty="0"/>
          </a:p>
        </p:txBody>
      </p:sp>
      <p:sp>
        <p:nvSpPr>
          <p:cNvPr id="34" name="Text 32"/>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35" name="Text 33"/>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1</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Problema y contexto</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1.5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El dato industrial llega corrupto a la capa de decisión</a:t>
            </a:r>
            <a:endParaRPr lang="en-US" sz="1300" dirty="0"/>
          </a:p>
          <a:p>
            <a:pPr>
              <a:lnSpc>
                <a:spcPct val="105000"/>
              </a:lnSpc>
              <a:spcBef>
                <a:spcPts val="0"/>
              </a:spcBef>
              <a:spcAft>
                <a:spcPts val="700"/>
              </a:spcAft>
            </a:pPr>
            <a:r>
              <a:rPr sz="1100" b="0" i="0">
                <a:solidFill>
                  <a:srgbClr val="3F4A57"/>
                </a:solidFill>
                <a:latin typeface="Calibri"/>
              </a:rPr>
              <a:t>•  El chancador primario es un sistema estocástico y parcialmente observable: la vibración severa y el material particulado en suspensión degradan de forma permanente la telemetría SCADA.</a:t>
            </a:r>
          </a:p>
          <a:p>
            <a:pPr>
              <a:lnSpc>
                <a:spcPct val="105000"/>
              </a:lnSpc>
              <a:spcBef>
                <a:spcPts val="0"/>
              </a:spcBef>
              <a:spcAft>
                <a:spcPts val="700"/>
              </a:spcAft>
            </a:pPr>
            <a:r>
              <a:rPr sz="1100" b="0" i="0">
                <a:solidFill>
                  <a:srgbClr val="3F4A57"/>
                </a:solidFill>
                <a:latin typeface="Calibri"/>
              </a:rPr>
              <a:t>•  Dos variables operacionales críticas no admiten sensorización directa: el volumen neto de mineral retenido en la tolva y la tasa instantánea de extracción del chancador.</a:t>
            </a:r>
          </a:p>
          <a:p>
            <a:pPr>
              <a:lnSpc>
                <a:spcPct val="105000"/>
              </a:lnSpc>
              <a:spcBef>
                <a:spcPts val="0"/>
              </a:spcBef>
              <a:spcAft>
                <a:spcPts val="700"/>
              </a:spcAft>
            </a:pPr>
            <a:r>
              <a:rPr sz="1100" b="0" i="0">
                <a:solidFill>
                  <a:srgbClr val="3F4A57"/>
                </a:solidFill>
                <a:latin typeface="Calibri"/>
              </a:rPr>
              <a:t>•  Los modelos deterministas de umbral fijo y alarma de nivel no capturan las perturbaciones dinámicas del proceso.</a:t>
            </a:r>
          </a:p>
          <a:p>
            <a:pPr>
              <a:lnSpc>
                <a:spcPct val="105000"/>
              </a:lnSpc>
              <a:spcBef>
                <a:spcPts val="0"/>
              </a:spcBef>
              <a:spcAft>
                <a:spcPts val="700"/>
              </a:spcAft>
            </a:pPr>
            <a:r>
              <a:rPr sz="1100" b="0" i="0">
                <a:solidFill>
                  <a:srgbClr val="3F4A57"/>
                </a:solidFill>
                <a:latin typeface="Calibri"/>
              </a:rPr>
              <a:t>•  Impacto informático: la analítica de Industria 4.0 toma decisiones sobre un sustrato de datos cuya fidelidad nadie ha garantizado (Ebad et al., 2026).</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Flujo del dato y alcance del proyecto</a:t>
            </a:r>
            <a:endParaRPr lang="en-US" sz="1200" dirty="0"/>
          </a:p>
          <a:p>
            <a:pPr>
              <a:lnSpc>
                <a:spcPct val="105000"/>
              </a:lnSpc>
              <a:spcBef>
                <a:spcPts val="0"/>
              </a:spcBef>
              <a:spcAft>
                <a:spcPts val="100"/>
              </a:spcAft>
            </a:pPr>
            <a:r>
              <a:rPr sz="1050" b="0" i="0">
                <a:solidFill>
                  <a:srgbClr val="5A6672"/>
                </a:solidFill>
                <a:latin typeface="Calibri"/>
              </a:rPr>
              <a:t>Chancador físico</a:t>
            </a:r>
          </a:p>
          <a:p>
            <a:pPr>
              <a:lnSpc>
                <a:spcPct val="105000"/>
              </a:lnSpc>
              <a:spcBef>
                <a:spcPts val="0"/>
              </a:spcBef>
              <a:spcAft>
                <a:spcPts val="100"/>
              </a:spcAft>
            </a:pPr>
            <a:r>
              <a:rPr sz="950" b="0" i="0">
                <a:solidFill>
                  <a:srgbClr val="8894A0"/>
                </a:solidFill>
                <a:latin typeface="Calibri"/>
              </a:rPr>
              <a:t>↓   vibración y polvo</a:t>
            </a:r>
          </a:p>
          <a:p>
            <a:pPr>
              <a:lnSpc>
                <a:spcPct val="105000"/>
              </a:lnSpc>
              <a:spcBef>
                <a:spcPts val="0"/>
              </a:spcBef>
              <a:spcAft>
                <a:spcPts val="100"/>
              </a:spcAft>
            </a:pPr>
            <a:r>
              <a:rPr sz="1050" b="0" i="0">
                <a:solidFill>
                  <a:srgbClr val="5A6672"/>
                </a:solidFill>
                <a:latin typeface="Calibri"/>
              </a:rPr>
              <a:t>Sensores / SCADA</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00"/>
              </a:spcAft>
            </a:pPr>
            <a:r>
              <a:rPr sz="1050" b="0" i="0">
                <a:solidFill>
                  <a:srgbClr val="5A6672"/>
                </a:solidFill>
                <a:latin typeface="Calibri"/>
              </a:rPr>
              <a:t>Datos crudos degradados   yₖ</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00"/>
              </a:spcAft>
            </a:pPr>
            <a:r>
              <a:rPr sz="1100" b="1" i="0">
                <a:solidFill>
                  <a:srgbClr val="C8102E"/>
                </a:solidFill>
                <a:latin typeface="Calibri"/>
              </a:rPr>
              <a:t>▶  MÓDULO ANALÍTICO — Filtro de Kalman  ◀</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00"/>
              </a:spcAft>
            </a:pPr>
            <a:r>
              <a:rPr sz="1050" b="0" i="0">
                <a:solidFill>
                  <a:srgbClr val="5A6672"/>
                </a:solidFill>
                <a:latin typeface="Calibri"/>
              </a:rPr>
              <a:t>Estado estimado óptimo   x̂ₖ|ₖ</a:t>
            </a:r>
          </a:p>
          <a:p>
            <a:pPr>
              <a:lnSpc>
                <a:spcPct val="105000"/>
              </a:lnSpc>
              <a:spcBef>
                <a:spcPts val="0"/>
              </a:spcBef>
              <a:spcAft>
                <a:spcPts val="100"/>
              </a:spcAft>
            </a:pPr>
            <a:r>
              <a:rPr sz="950" b="0" i="0">
                <a:solidFill>
                  <a:srgbClr val="8894A0"/>
                </a:solidFill>
                <a:latin typeface="Calibri"/>
              </a:rPr>
              <a:t>↓</a:t>
            </a:r>
          </a:p>
          <a:p>
            <a:pPr>
              <a:lnSpc>
                <a:spcPct val="105000"/>
              </a:lnSpc>
              <a:spcBef>
                <a:spcPts val="0"/>
              </a:spcBef>
              <a:spcAft>
                <a:spcPts val="1200"/>
              </a:spcAft>
            </a:pPr>
            <a:r>
              <a:rPr sz="1050" b="0" i="0">
                <a:solidFill>
                  <a:srgbClr val="5A6672"/>
                </a:solidFill>
                <a:latin typeface="Calibri"/>
              </a:rPr>
              <a:t>Capa de decisión del gemelo digital</a:t>
            </a:r>
          </a:p>
          <a:p>
            <a:pPr>
              <a:lnSpc>
                <a:spcPct val="105000"/>
              </a:lnSpc>
              <a:spcBef>
                <a:spcPts val="0"/>
              </a:spcBef>
              <a:spcAft>
                <a:spcPts val="0"/>
              </a:spcAft>
            </a:pPr>
            <a:r>
              <a:rPr sz="950" b="0" i="1">
                <a:solidFill>
                  <a:srgbClr val="8894A0"/>
                </a:solidFill>
                <a:latin typeface="Calibri"/>
              </a:rPr>
              <a:t>El alcance de esta investigación se limita estrictamente al bloque destacado.</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2</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Pregunta de investigación y objetivos</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1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600"/>
              </a:spcAft>
              <a:buNone/>
            </a:pPr>
            <a:pPr algn="l" indent="0" marL="0">
              <a:buNone/>
            </a:pPr>
            <a:r>
              <a:rPr sz="1250" b="1" i="0">
                <a:solidFill>
                  <a:srgbClr val="173A5E"/>
                </a:solidFill>
                <a:latin typeface="Calibri"/>
              </a:rPr>
              <a:t>Pregunta de investigación</a:t>
            </a:r>
            <a:endParaRPr lang="en-US" sz="1300" dirty="0"/>
          </a:p>
          <a:p>
            <a:pPr>
              <a:lnSpc>
                <a:spcPct val="110000"/>
              </a:lnSpc>
              <a:spcBef>
                <a:spcPts val="0"/>
              </a:spcBef>
              <a:spcAft>
                <a:spcPts val="1400"/>
              </a:spcAft>
            </a:pPr>
            <a:r>
              <a:rPr sz="1150" b="0" i="1">
                <a:solidFill>
                  <a:srgbClr val="C8102E"/>
                </a:solidFill>
                <a:latin typeface="Calibri"/>
              </a:rPr>
              <a:t>¿De qué manera el diseño y la validación mediante simulación estocástica de un módulo de software analítico basado en el algoritmo del Filtro de Kalman Lineal permite mitigar el ruido instrumental y reconstruir de forma confiable el estado dinámico interno de volumen de carga en un chancador primario parcialmente observable?</a:t>
            </a:r>
          </a:p>
          <a:p>
            <a:pPr>
              <a:lnSpc>
                <a:spcPct val="100000"/>
              </a:lnSpc>
              <a:spcBef>
                <a:spcPts val="0"/>
              </a:spcBef>
              <a:spcAft>
                <a:spcPts val="600"/>
              </a:spcAft>
            </a:pPr>
            <a:r>
              <a:rPr sz="1250" b="1" i="0">
                <a:solidFill>
                  <a:srgbClr val="173A5E"/>
                </a:solidFill>
                <a:latin typeface="Calibri"/>
              </a:rPr>
              <a:t>Objetivo general</a:t>
            </a:r>
          </a:p>
          <a:p>
            <a:pPr>
              <a:lnSpc>
                <a:spcPct val="110000"/>
              </a:lnSpc>
              <a:spcBef>
                <a:spcPts val="0"/>
              </a:spcBef>
              <a:spcAft>
                <a:spcPts val="0"/>
              </a:spcAft>
            </a:pPr>
            <a:r>
              <a:rPr sz="1100" b="0" i="0">
                <a:solidFill>
                  <a:srgbClr val="3F4A57"/>
                </a:solidFill>
                <a:latin typeface="Calibri"/>
              </a:rPr>
              <a:t>Diseñar y validar mediante simulación estocástica un módulo de software analítico para la estimación de estados en un gemelo digital de chancado primario minero, aplicando el Filtro de Kalman sobre datos ruidosos de tipo SCADA, con el fin de optimizar la observabilidad y reducir el error cuadrático medio en la reconstrucción del volumen de carga interna.</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Objetivos específicos</a:t>
            </a:r>
            <a:endParaRPr lang="en-US" sz="1200" dirty="0"/>
          </a:p>
          <a:p>
            <a:pPr>
              <a:lnSpc>
                <a:spcPct val="105000"/>
              </a:lnSpc>
              <a:spcBef>
                <a:spcPts val="0"/>
              </a:spcBef>
              <a:spcAft>
                <a:spcPts val="900"/>
              </a:spcAft>
            </a:pPr>
            <a:r>
              <a:rPr sz="1050" b="0" i="0">
                <a:solidFill>
                  <a:srgbClr val="5A6672"/>
                </a:solidFill>
                <a:latin typeface="Calibri"/>
              </a:rPr>
              <a:t>OE1 · Caracterizar estadísticamente el ruido de la instrumentación industrial para parametrizar las matrices de covarianza del estimador.</a:t>
            </a:r>
          </a:p>
          <a:p>
            <a:pPr>
              <a:lnSpc>
                <a:spcPct val="105000"/>
              </a:lnSpc>
              <a:spcBef>
                <a:spcPts val="0"/>
              </a:spcBef>
              <a:spcAft>
                <a:spcPts val="900"/>
              </a:spcAft>
            </a:pPr>
            <a:r>
              <a:rPr sz="1050" b="0" i="0">
                <a:solidFill>
                  <a:srgbClr val="5A6672"/>
                </a:solidFill>
                <a:latin typeface="Calibri"/>
              </a:rPr>
              <a:t>OE2 · Modelar matemáticamente la dinámica de flujo y retención en la tolva mediante ecuaciones lineales en espacio de estados discreto.</a:t>
            </a:r>
          </a:p>
          <a:p>
            <a:pPr>
              <a:lnSpc>
                <a:spcPct val="105000"/>
              </a:lnSpc>
              <a:spcBef>
                <a:spcPts val="0"/>
              </a:spcBef>
              <a:spcAft>
                <a:spcPts val="900"/>
              </a:spcAft>
            </a:pPr>
            <a:r>
              <a:rPr sz="1050" b="0" i="0">
                <a:solidFill>
                  <a:srgbClr val="5A6672"/>
                </a:solidFill>
                <a:latin typeface="Calibri"/>
              </a:rPr>
              <a:t>OE3 · Desarrollar computacionalmente el pipeline recursivo del Filtro de Kalman Lineal: actualización temporal y corrección de mediciones.</a:t>
            </a:r>
          </a:p>
          <a:p>
            <a:pPr>
              <a:lnSpc>
                <a:spcPct val="105000"/>
              </a:lnSpc>
              <a:spcBef>
                <a:spcPts val="0"/>
              </a:spcBef>
              <a:spcAft>
                <a:spcPts val="1000"/>
              </a:spcAft>
            </a:pPr>
            <a:r>
              <a:rPr sz="1050" b="0" i="0">
                <a:solidFill>
                  <a:srgbClr val="5A6672"/>
                </a:solidFill>
                <a:latin typeface="Calibri"/>
              </a:rPr>
              <a:t>OE4 · Validar el desempeño mediante simulaciones de Monte Carlo, cuantificando la reducción del MSE frente al SCADA crudo.</a:t>
            </a:r>
          </a:p>
          <a:p>
            <a:pPr>
              <a:lnSpc>
                <a:spcPct val="105000"/>
              </a:lnSpc>
              <a:spcBef>
                <a:spcPts val="0"/>
              </a:spcBef>
              <a:spcAft>
                <a:spcPts val="0"/>
              </a:spcAft>
            </a:pPr>
            <a:r>
              <a:rPr sz="950" b="0" i="1">
                <a:solidFill>
                  <a:srgbClr val="8894A0"/>
                </a:solidFill>
                <a:latin typeface="Calibri"/>
              </a:rPr>
              <a:t>Un verbo por objetivo; cada uno genera un entregable auditable.</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3</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Marco teórico y antecedentes</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1.5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Cuatro pilares conceptuales y su articulación</a:t>
            </a:r>
            <a:endParaRPr lang="en-US" sz="1300" dirty="0"/>
          </a:p>
          <a:p>
            <a:pPr>
              <a:lnSpc>
                <a:spcPct val="105000"/>
              </a:lnSpc>
              <a:spcBef>
                <a:spcPts val="0"/>
              </a:spcBef>
              <a:spcAft>
                <a:spcPts val="700"/>
              </a:spcAft>
            </a:pPr>
            <a:r>
              <a:rPr sz="1100" b="0" i="0">
                <a:solidFill>
                  <a:srgbClr val="3F4A57"/>
                </a:solidFill>
                <a:latin typeface="Calibri"/>
              </a:rPr>
              <a:t>•  Sistemas ciberfísicos y gemelos digitales: el desafío central no es computacional sino de fidelidad del acoplamiento entre lo físico y lo computacional (Lee, 2008; Tao et al., 2019).</a:t>
            </a:r>
          </a:p>
          <a:p>
            <a:pPr>
              <a:lnSpc>
                <a:spcPct val="105000"/>
              </a:lnSpc>
              <a:spcBef>
                <a:spcPts val="0"/>
              </a:spcBef>
              <a:spcAft>
                <a:spcPts val="700"/>
              </a:spcAft>
            </a:pPr>
            <a:r>
              <a:rPr sz="1100" b="0" i="0">
                <a:solidFill>
                  <a:srgbClr val="3F4A57"/>
                </a:solidFill>
                <a:latin typeface="Calibri"/>
              </a:rPr>
              <a:t>•  Sombra digital vs. gemelo digital: una réplica que espeja datos crudos no es un gemelo; el gemelo procesa y depura la incertidumbre (Sepasgozar, 2021)  ←  criterio adoptado.</a:t>
            </a:r>
          </a:p>
          <a:p>
            <a:pPr>
              <a:lnSpc>
                <a:spcPct val="105000"/>
              </a:lnSpc>
              <a:spcBef>
                <a:spcPts val="0"/>
              </a:spcBef>
              <a:spcAft>
                <a:spcPts val="700"/>
              </a:spcAft>
            </a:pPr>
            <a:r>
              <a:rPr sz="1100" b="0" i="0">
                <a:solidFill>
                  <a:srgbClr val="3F4A57"/>
                </a:solidFill>
                <a:latin typeface="Calibri"/>
              </a:rPr>
              <a:t>•  Estimación óptima de estados: estimador recursivo de varianza mínima bajo ruido gaussiano blanco (Kalman, 1960; Simon, 2006).</a:t>
            </a:r>
          </a:p>
          <a:p>
            <a:pPr>
              <a:lnSpc>
                <a:spcPct val="105000"/>
              </a:lnSpc>
              <a:spcBef>
                <a:spcPts val="0"/>
              </a:spcBef>
              <a:spcAft>
                <a:spcPts val="700"/>
              </a:spcAft>
            </a:pPr>
            <a:r>
              <a:rPr sz="1100" b="0" i="0">
                <a:solidFill>
                  <a:srgbClr val="3F4A57"/>
                </a:solidFill>
                <a:latin typeface="Calibri"/>
              </a:rPr>
              <a:t>•  Precedentes en conminución y minería del cobre: las variables internas no instrumentadas sí son reconstruibles (Apelt et al., 2002; Bárzaga-Martell et al., 2025).</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Vacío de conocimiento</a:t>
            </a:r>
            <a:endParaRPr lang="en-US" sz="1200" dirty="0"/>
          </a:p>
          <a:p>
            <a:pPr>
              <a:lnSpc>
                <a:spcPct val="105000"/>
              </a:lnSpc>
              <a:spcBef>
                <a:spcPts val="0"/>
              </a:spcBef>
              <a:spcAft>
                <a:spcPts val="900"/>
              </a:spcAft>
            </a:pPr>
            <a:r>
              <a:rPr sz="1050" b="0" i="0">
                <a:solidFill>
                  <a:srgbClr val="5A6672"/>
                </a:solidFill>
                <a:latin typeface="Calibri"/>
              </a:rPr>
              <a:t>No se identificó en la literatura revisada un módulo analítico desacoplado, reproducible y validado estadísticamente que satisfaga simultáneamente:</a:t>
            </a:r>
          </a:p>
          <a:p>
            <a:pPr>
              <a:lnSpc>
                <a:spcPct val="105000"/>
              </a:lnSpc>
              <a:spcBef>
                <a:spcPts val="0"/>
              </a:spcBef>
              <a:spcAft>
                <a:spcPts val="800"/>
              </a:spcAft>
            </a:pPr>
            <a:r>
              <a:rPr sz="1050" b="0" i="0">
                <a:solidFill>
                  <a:srgbClr val="5A6672"/>
                </a:solidFill>
                <a:latin typeface="Calibri"/>
              </a:rPr>
              <a:t>①  Formule la estimación de estados como capa de consistencia de un gemelo digital, y no como instrumento de control.</a:t>
            </a:r>
          </a:p>
          <a:p>
            <a:pPr>
              <a:lnSpc>
                <a:spcPct val="105000"/>
              </a:lnSpc>
              <a:spcBef>
                <a:spcPts val="0"/>
              </a:spcBef>
              <a:spcAft>
                <a:spcPts val="800"/>
              </a:spcAft>
            </a:pPr>
            <a:r>
              <a:rPr sz="1050" b="0" i="0">
                <a:solidFill>
                  <a:srgbClr val="5A6672"/>
                </a:solidFill>
                <a:latin typeface="Calibri"/>
              </a:rPr>
              <a:t>②  Incorpore el estimador estocástico como componente arquitectónico entre la capa física y la capa de decisión (Qu et al., 2023; Ebad et al., 2026).</a:t>
            </a:r>
          </a:p>
          <a:p>
            <a:pPr>
              <a:lnSpc>
                <a:spcPct val="105000"/>
              </a:lnSpc>
              <a:spcBef>
                <a:spcPts val="0"/>
              </a:spcBef>
              <a:spcAft>
                <a:spcPts val="1100"/>
              </a:spcAft>
            </a:pPr>
            <a:r>
              <a:rPr sz="1050" b="0" i="0">
                <a:solidFill>
                  <a:srgbClr val="5A6672"/>
                </a:solidFill>
                <a:latin typeface="Calibri"/>
              </a:rPr>
              <a:t>③  Reconstruya el volumen interno de una tolva de chancado primario bajo vibración severa.</a:t>
            </a:r>
          </a:p>
          <a:p>
            <a:pPr>
              <a:lnSpc>
                <a:spcPct val="105000"/>
              </a:lnSpc>
              <a:spcBef>
                <a:spcPts val="0"/>
              </a:spcBef>
              <a:spcAft>
                <a:spcPts val="0"/>
              </a:spcAft>
            </a:pPr>
            <a:r>
              <a:rPr sz="950" b="0" i="1">
                <a:solidFill>
                  <a:srgbClr val="8894A0"/>
                </a:solidFill>
                <a:latin typeface="Calibri"/>
              </a:rPr>
              <a:t>No se reclama novedad algorítmica, sino aporte de diseño, integración y validación.</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4</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Metodología</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2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Diseño experimental por simulación estocástica controlada</a:t>
            </a:r>
            <a:endParaRPr lang="en-US" sz="1300" dirty="0"/>
          </a:p>
          <a:p>
            <a:pPr>
              <a:lnSpc>
                <a:spcPct val="105000"/>
              </a:lnSpc>
              <a:spcBef>
                <a:spcPts val="0"/>
              </a:spcBef>
              <a:spcAft>
                <a:spcPts val="700"/>
              </a:spcAft>
            </a:pPr>
            <a:r>
              <a:rPr sz="1100" b="0" i="0">
                <a:solidFill>
                  <a:srgbClr val="3F4A57"/>
                </a:solidFill>
                <a:latin typeface="Calibri"/>
              </a:rPr>
              <a:t>•  Modelo en espacio de estados de dos variables: xₖ = [ Vₖ , V̇ₖ ]ᵀ. Solo el volumen se observa; la tasa de llenado no tiene instrumentación alguna.</a:t>
            </a:r>
          </a:p>
          <a:p>
            <a:pPr>
              <a:lnSpc>
                <a:spcPct val="105000"/>
              </a:lnSpc>
              <a:spcBef>
                <a:spcPts val="0"/>
              </a:spcBef>
              <a:spcAft>
                <a:spcPts val="700"/>
              </a:spcAft>
            </a:pPr>
            <a:r>
              <a:rPr sz="1100" b="0" i="0">
                <a:solidFill>
                  <a:srgbClr val="3F4A57"/>
                </a:solidFill>
                <a:latin typeface="Calibri"/>
              </a:rPr>
              <a:t>•  Observabilidad verificada formalmente: rango de la matriz de observabilidad O = [H ; H·A] igual a 2  →  la variable latente es reconstruible, no es un supuesto.</a:t>
            </a:r>
          </a:p>
          <a:p>
            <a:pPr>
              <a:lnSpc>
                <a:spcPct val="105000"/>
              </a:lnSpc>
              <a:spcBef>
                <a:spcPts val="0"/>
              </a:spcBef>
              <a:spcAft>
                <a:spcPts val="700"/>
              </a:spcAft>
            </a:pPr>
            <a:r>
              <a:rPr sz="1100" b="0" i="0">
                <a:solidFill>
                  <a:srgbClr val="3F4A57"/>
                </a:solidFill>
                <a:latin typeface="Calibri"/>
              </a:rPr>
              <a:t>•  Estimador: Filtro de Kalman Lineal Discreto, ciclo predicción–corrección, con actualización de covarianza en forma de Joseph para estabilidad numérica.</a:t>
            </a:r>
          </a:p>
          <a:p>
            <a:pPr>
              <a:lnSpc>
                <a:spcPct val="105000"/>
              </a:lnSpc>
              <a:spcBef>
                <a:spcPts val="0"/>
              </a:spcBef>
              <a:spcAft>
                <a:spcPts val="700"/>
              </a:spcAft>
            </a:pPr>
            <a:r>
              <a:rPr sz="1100" b="0" i="0">
                <a:solidFill>
                  <a:srgbClr val="3F4A57"/>
                </a:solidFill>
                <a:latin typeface="Calibri"/>
              </a:rPr>
              <a:t>•  Experimento: N = 1000 pasos de 1 s y M = 50 corridas independientes (SeedSequence, semilla 42). Línea base declarada: lectura SCADA cruda, y diferencias finitas para la tasa.</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Estrategia de validación</a:t>
            </a:r>
            <a:endParaRPr lang="en-US" sz="1200" dirty="0"/>
          </a:p>
          <a:p>
            <a:pPr>
              <a:lnSpc>
                <a:spcPct val="105000"/>
              </a:lnSpc>
              <a:spcBef>
                <a:spcPts val="0"/>
              </a:spcBef>
              <a:spcAft>
                <a:spcPts val="800"/>
              </a:spcAft>
            </a:pPr>
            <a:r>
              <a:rPr sz="1050" b="0" i="0">
                <a:solidFill>
                  <a:srgbClr val="5A6672"/>
                </a:solidFill>
                <a:latin typeface="Calibri"/>
              </a:rPr>
              <a:t>•  Prueba t pareada unilateral (α = 0,05) sobre el RMSE.</a:t>
            </a:r>
          </a:p>
          <a:p>
            <a:pPr>
              <a:lnSpc>
                <a:spcPct val="105000"/>
              </a:lnSpc>
              <a:spcBef>
                <a:spcPts val="0"/>
              </a:spcBef>
              <a:spcAft>
                <a:spcPts val="800"/>
              </a:spcAft>
            </a:pPr>
            <a:r>
              <a:rPr sz="1050" b="0" i="0">
                <a:solidFill>
                  <a:srgbClr val="5A6672"/>
                </a:solidFill>
                <a:latin typeface="Calibri"/>
              </a:rPr>
              <a:t>•  Shapiro-Wilk: verificación explícita del supuesto de normalidad, no asumido.</a:t>
            </a:r>
          </a:p>
          <a:p>
            <a:pPr>
              <a:lnSpc>
                <a:spcPct val="105000"/>
              </a:lnSpc>
              <a:spcBef>
                <a:spcPts val="0"/>
              </a:spcBef>
              <a:spcAft>
                <a:spcPts val="800"/>
              </a:spcAft>
            </a:pPr>
            <a:r>
              <a:rPr sz="1050" b="0" i="0">
                <a:solidFill>
                  <a:srgbClr val="5A6672"/>
                </a:solidFill>
                <a:latin typeface="Calibri"/>
              </a:rPr>
              <a:t>•  Wilcoxon: contraste no paramétrico de respaldo.</a:t>
            </a:r>
          </a:p>
          <a:p>
            <a:pPr>
              <a:lnSpc>
                <a:spcPct val="105000"/>
              </a:lnSpc>
              <a:spcBef>
                <a:spcPts val="0"/>
              </a:spcBef>
              <a:spcAft>
                <a:spcPts val="800"/>
              </a:spcAft>
            </a:pPr>
            <a:r>
              <a:rPr sz="1050" b="0" i="0">
                <a:solidFill>
                  <a:srgbClr val="5A6672"/>
                </a:solidFill>
                <a:latin typeface="Calibri"/>
              </a:rPr>
              <a:t>•  d de Cohen e intervalo de confianza al 95 %.</a:t>
            </a:r>
          </a:p>
          <a:p>
            <a:pPr>
              <a:lnSpc>
                <a:spcPct val="105000"/>
              </a:lnSpc>
              <a:spcBef>
                <a:spcPts val="0"/>
              </a:spcBef>
              <a:spcAft>
                <a:spcPts val="800"/>
              </a:spcAft>
            </a:pPr>
            <a:r>
              <a:rPr sz="1050" b="0" i="0">
                <a:solidFill>
                  <a:srgbClr val="5A6672"/>
                </a:solidFill>
                <a:latin typeface="Calibri"/>
              </a:rPr>
              <a:t>•  Análisis de sensibilidad: degradación creciente de R y malla de desajuste Q/R.</a:t>
            </a:r>
          </a:p>
          <a:p>
            <a:pPr>
              <a:lnSpc>
                <a:spcPct val="105000"/>
              </a:lnSpc>
              <a:spcBef>
                <a:spcPts val="0"/>
              </a:spcBef>
              <a:spcAft>
                <a:spcPts val="1100"/>
              </a:spcAft>
            </a:pPr>
            <a:r>
              <a:rPr sz="1050" b="0" i="0">
                <a:solidFill>
                  <a:srgbClr val="5A6672"/>
                </a:solidFill>
                <a:latin typeface="Calibri"/>
              </a:rPr>
              <a:t>•  Reproducibilidad: salidas idénticas byte a byte (MD5) entre ejecuciones independientes.</a:t>
            </a:r>
          </a:p>
          <a:p>
            <a:pPr>
              <a:lnSpc>
                <a:spcPct val="105000"/>
              </a:lnSpc>
              <a:spcBef>
                <a:spcPts val="0"/>
              </a:spcBef>
              <a:spcAft>
                <a:spcPts val="0"/>
              </a:spcAft>
            </a:pPr>
            <a:r>
              <a:rPr sz="950" b="0" i="1">
                <a:solidFill>
                  <a:srgbClr val="8894A0"/>
                </a:solidFill>
                <a:latin typeface="Calibri"/>
              </a:rPr>
              <a:t>Ajuste documentado: q₂₂ recalibrado de 0,05 a 1×10⁻⁴ por implausibilidad física del paseo aleatorio resultante.</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5</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lnSpc>
                <a:spcPct val="105000"/>
              </a:lnSpc>
              <a:spcBef>
                <a:spcPts val="0"/>
              </a:spcBef>
              <a:spcAft>
                <a:spcPts val="0"/>
              </a:spcAft>
              <a:buNone/>
            </a:pPr>
            <a:r>
              <a:rPr sz="3000" b="1" i="0">
                <a:solidFill>
                  <a:srgbClr val="173A5E"/>
                </a:solidFill>
                <a:latin typeface="Cambria"/>
              </a:rPr>
              <a:t>Resultados: reconstrucción del estado</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lnSpc>
                <a:spcPct val="105000"/>
              </a:lnSpc>
              <a:spcBef>
                <a:spcPts val="0"/>
              </a:spcBef>
              <a:spcAft>
                <a:spcPts val="0"/>
              </a:spcAft>
              <a:buNone/>
            </a:pPr>
            <a:r>
              <a:rPr sz="1100" b="1" i="0">
                <a:solidFill>
                  <a:srgbClr val="1B4570"/>
                </a:solidFill>
                <a:latin typeface="Calibri"/>
              </a:rPr>
              <a:t>≈ 1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Cifras principales  (M = 50, N = 1000)</a:t>
            </a:r>
            <a:endParaRPr lang="en-US" sz="1200" dirty="0"/>
          </a:p>
          <a:p>
            <a:pPr>
              <a:lnSpc>
                <a:spcPct val="105000"/>
              </a:lnSpc>
              <a:spcBef>
                <a:spcPts val="0"/>
              </a:spcBef>
              <a:spcAft>
                <a:spcPts val="100"/>
              </a:spcAft>
            </a:pPr>
            <a:r>
              <a:rPr sz="1000" b="0" i="0">
                <a:solidFill>
                  <a:srgbClr val="8894A0"/>
                </a:solidFill>
                <a:latin typeface="Calibri"/>
              </a:rPr>
              <a:t>MSE del volumen</a:t>
            </a:r>
          </a:p>
          <a:p>
            <a:pPr>
              <a:lnSpc>
                <a:spcPct val="105000"/>
              </a:lnSpc>
              <a:spcBef>
                <a:spcPts val="0"/>
              </a:spcBef>
              <a:spcAft>
                <a:spcPts val="900"/>
              </a:spcAft>
            </a:pPr>
            <a:r>
              <a:rPr sz="1300" b="1" i="0">
                <a:solidFill>
                  <a:srgbClr val="173A5E"/>
                </a:solidFill>
                <a:latin typeface="Calibri"/>
              </a:rPr>
              <a:t>4,97  →  0,52 m⁶        −89,57 %</a:t>
            </a:r>
          </a:p>
          <a:p>
            <a:pPr>
              <a:lnSpc>
                <a:spcPct val="105000"/>
              </a:lnSpc>
              <a:spcBef>
                <a:spcPts val="0"/>
              </a:spcBef>
              <a:spcAft>
                <a:spcPts val="100"/>
              </a:spcAft>
            </a:pPr>
            <a:r>
              <a:rPr sz="1000" b="0" i="0">
                <a:solidFill>
                  <a:srgbClr val="8894A0"/>
                </a:solidFill>
                <a:latin typeface="Calibri"/>
              </a:rPr>
              <a:t>RMSE del volumen</a:t>
            </a:r>
          </a:p>
          <a:p>
            <a:pPr>
              <a:lnSpc>
                <a:spcPct val="105000"/>
              </a:lnSpc>
              <a:spcBef>
                <a:spcPts val="0"/>
              </a:spcBef>
              <a:spcAft>
                <a:spcPts val="900"/>
              </a:spcAft>
            </a:pPr>
            <a:r>
              <a:rPr sz="1300" b="1" i="0">
                <a:solidFill>
                  <a:srgbClr val="173A5E"/>
                </a:solidFill>
                <a:latin typeface="Calibri"/>
              </a:rPr>
              <a:t>2,23  →  0,72 m³        −67,80 %</a:t>
            </a:r>
          </a:p>
          <a:p>
            <a:pPr>
              <a:lnSpc>
                <a:spcPct val="105000"/>
              </a:lnSpc>
              <a:spcBef>
                <a:spcPts val="0"/>
              </a:spcBef>
              <a:spcAft>
                <a:spcPts val="100"/>
              </a:spcAft>
            </a:pPr>
            <a:r>
              <a:rPr sz="1000" b="0" i="0">
                <a:solidFill>
                  <a:srgbClr val="8894A0"/>
                </a:solidFill>
                <a:latin typeface="Calibri"/>
              </a:rPr>
              <a:t>Tasa de llenado V̇  (variable no sensada)</a:t>
            </a:r>
          </a:p>
          <a:p>
            <a:pPr>
              <a:lnSpc>
                <a:spcPct val="105000"/>
              </a:lnSpc>
              <a:spcBef>
                <a:spcPts val="0"/>
              </a:spcBef>
              <a:spcAft>
                <a:spcPts val="1100"/>
              </a:spcAft>
            </a:pPr>
            <a:r>
              <a:rPr sz="1300" b="1" i="0">
                <a:solidFill>
                  <a:srgbClr val="C8102E"/>
                </a:solidFill>
                <a:latin typeface="Calibri"/>
              </a:rPr>
              <a:t>3,69  →  0,067 m³/s      −98,17 %</a:t>
            </a:r>
          </a:p>
          <a:p>
            <a:pPr>
              <a:lnSpc>
                <a:spcPct val="105000"/>
              </a:lnSpc>
              <a:spcBef>
                <a:spcPts val="0"/>
              </a:spcBef>
              <a:spcAft>
                <a:spcPts val="700"/>
              </a:spcAft>
            </a:pPr>
            <a:r>
              <a:rPr sz="950" b="0" i="0">
                <a:solidFill>
                  <a:srgbClr val="5A6672"/>
                </a:solidFill>
                <a:latin typeface="Calibri"/>
              </a:rPr>
              <a:t>Verificación interna: el MSE crudo (4,97 m⁶) coincide con la varianza inyectada R = 5,0 m⁶.</a:t>
            </a:r>
          </a:p>
          <a:p>
            <a:pPr>
              <a:lnSpc>
                <a:spcPct val="105000"/>
              </a:lnSpc>
              <a:spcBef>
                <a:spcPts val="0"/>
              </a:spcBef>
              <a:spcAft>
                <a:spcPts val="0"/>
              </a:spcAft>
            </a:pPr>
            <a:r>
              <a:rPr sz="950" b="0" i="1">
                <a:solidFill>
                  <a:srgbClr val="5A6672"/>
                </a:solidFill>
                <a:latin typeface="Calibri"/>
              </a:rPr>
              <a:t>El módulo no solo depura la señal: produce información de estado que ningún sensor de la planta entrega.</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7</a:t>
            </a:r>
            <a:endParaRPr lang="en-US" sz="1100" dirty="0"/>
          </a:p>
        </p:txBody>
      </p:sp>
      <p:pic>
        <p:nvPicPr>
          <p:cNvPr id="12" name="Picture 11" descr="fig1_reconstruccion_volumen.png"/>
          <p:cNvPicPr>
            <a:picLocks noChangeAspect="1"/>
          </p:cNvPicPr>
          <p:nvPr/>
        </p:nvPicPr>
        <p:blipFill>
          <a:blip r:embed="rId3"/>
          <a:stretch>
            <a:fillRect/>
          </a:stretch>
        </p:blipFill>
        <p:spPr>
          <a:xfrm>
            <a:off x="868680" y="2559036"/>
            <a:ext cx="5943600" cy="265432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6</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Discusión, conclusiones y aportes</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buNone/>
            </a:pPr>
            <a:r>
              <a:rPr lang="en-US" sz="1100" b="1" dirty="0">
                <a:solidFill>
                  <a:srgbClr val="1B4570"/>
                </a:solidFill>
                <a:latin typeface="Calibri" pitchFamily="34" charset="0"/>
                <a:ea typeface="Calibri" pitchFamily="34" charset="-122"/>
                <a:cs typeface="Calibri" pitchFamily="34" charset="-120"/>
              </a:rPr>
              <a:t>≈ 2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7" name="Text 5"/>
          <p:cNvSpPr txBox="1"/>
          <p:nvPr/>
        </p:nvSpPr>
        <p:spPr>
          <a:xfrm>
            <a:off x="731520" y="1965960"/>
            <a:ext cx="6217920" cy="3840480"/>
          </a:xfrm>
          <a:prstGeom prst="rect">
            <a:avLst/>
          </a:prstGeom>
          <a:noFill/>
          <a:ln/>
        </p:spPr>
        <p:txBody>
          <a:bodyPr wrap="square" lIns="0" tIns="0" rIns="0" bIns="0" rtlCol="0" anchor="t"/>
          <a:lstStyle/>
          <a:p>
            <a:pPr algn="l" indent="0" marL="0">
              <a:lnSpc>
                <a:spcPct val="100000"/>
              </a:lnSpc>
              <a:spcBef>
                <a:spcPts val="0"/>
              </a:spcBef>
              <a:spcAft>
                <a:spcPts val="800"/>
              </a:spcAft>
              <a:buNone/>
            </a:pPr>
            <a:pPr algn="l" indent="0" marL="0">
              <a:buNone/>
            </a:pPr>
            <a:r>
              <a:rPr sz="1250" b="1" i="0">
                <a:solidFill>
                  <a:srgbClr val="173A5E"/>
                </a:solidFill>
                <a:latin typeface="Calibri"/>
              </a:rPr>
              <a:t>Interpretación frente a objetivos y marco teórico</a:t>
            </a:r>
            <a:endParaRPr lang="en-US" sz="1300" dirty="0"/>
          </a:p>
          <a:p>
            <a:pPr>
              <a:lnSpc>
                <a:spcPct val="105000"/>
              </a:lnSpc>
              <a:spcBef>
                <a:spcPts val="0"/>
              </a:spcBef>
              <a:spcAft>
                <a:spcPts val="700"/>
              </a:spcAft>
            </a:pPr>
            <a:r>
              <a:rPr sz="1100" b="0" i="0">
                <a:solidFill>
                  <a:srgbClr val="3F4A57"/>
                </a:solidFill>
                <a:latin typeface="Calibri"/>
              </a:rPr>
              <a:t>•  Los cuatro objetivos específicos se cumplieron y cada uno generó el entregable auditable comprometido en el plan del proyecto.</a:t>
            </a:r>
          </a:p>
          <a:p>
            <a:pPr>
              <a:lnSpc>
                <a:spcPct val="105000"/>
              </a:lnSpc>
              <a:spcBef>
                <a:spcPts val="0"/>
              </a:spcBef>
              <a:spcAft>
                <a:spcPts val="700"/>
              </a:spcAft>
            </a:pPr>
            <a:r>
              <a:rPr sz="1100" b="0" i="0">
                <a:solidFill>
                  <a:srgbClr val="3F4A57"/>
                </a:solidFill>
                <a:latin typeface="Calibri"/>
              </a:rPr>
              <a:t>•  El aporte del módulo crece con la degradación del entorno: no se diluye en condiciones hostiles, se acentúa. Esto invierte la intuición habitual sobre el filtrado.</a:t>
            </a:r>
          </a:p>
          <a:p>
            <a:pPr>
              <a:lnSpc>
                <a:spcPct val="105000"/>
              </a:lnSpc>
              <a:spcBef>
                <a:spcPts val="0"/>
              </a:spcBef>
              <a:spcAft>
                <a:spcPts val="700"/>
              </a:spcAft>
            </a:pPr>
            <a:r>
              <a:rPr sz="1100" b="0" i="0">
                <a:solidFill>
                  <a:srgbClr val="3F4A57"/>
                </a:solidFill>
                <a:latin typeface="Calibri"/>
              </a:rPr>
              <a:t>•  Lo que gobierna el desempeño es la razón Q/R y no los valores absolutos: un error de calibración proporcional es prácticamente inofensivo, lo que baja la barrera de sintonización industrial.</a:t>
            </a:r>
          </a:p>
          <a:p>
            <a:pPr>
              <a:lnSpc>
                <a:spcPct val="105000"/>
              </a:lnSpc>
              <a:spcBef>
                <a:spcPts val="0"/>
              </a:spcBef>
              <a:spcAft>
                <a:spcPts val="700"/>
              </a:spcAft>
            </a:pPr>
            <a:r>
              <a:rPr sz="1100" b="0" i="0">
                <a:solidFill>
                  <a:srgbClr val="3F4A57"/>
                </a:solidFill>
                <a:latin typeface="Calibri"/>
              </a:rPr>
              <a:t>•  Limitaciones declaradas: régimen lineal, datos sintéticos y ausencia de validación con telemetría de faena real.</a:t>
            </a:r>
          </a:p>
        </p:txBody>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Aportes del estudio</a:t>
            </a:r>
            <a:endParaRPr lang="en-US" sz="1200" dirty="0"/>
          </a:p>
          <a:p>
            <a:pPr>
              <a:lnSpc>
                <a:spcPct val="105000"/>
              </a:lnSpc>
              <a:spcBef>
                <a:spcPts val="0"/>
              </a:spcBef>
              <a:spcAft>
                <a:spcPts val="900"/>
              </a:spcAft>
            </a:pPr>
            <a:r>
              <a:rPr sz="1050" b="0" i="0">
                <a:solidFill>
                  <a:srgbClr val="5A6672"/>
                </a:solidFill>
                <a:latin typeface="Calibri"/>
              </a:rPr>
              <a:t>Arquitectónico — formula la estimación estocástica como componente de diseño del gemelo digital, atendiendo la capa que las revisiones señalan como desatendida.</a:t>
            </a:r>
          </a:p>
          <a:p>
            <a:pPr>
              <a:lnSpc>
                <a:spcPct val="105000"/>
              </a:lnSpc>
              <a:spcBef>
                <a:spcPts val="0"/>
              </a:spcBef>
              <a:spcAft>
                <a:spcPts val="900"/>
              </a:spcAft>
            </a:pPr>
            <a:r>
              <a:rPr sz="1050" b="0" i="0">
                <a:solidFill>
                  <a:srgbClr val="5A6672"/>
                </a:solidFill>
                <a:latin typeface="Calibri"/>
              </a:rPr>
              <a:t>Empírico — evidencia cuantificada de que la diferencia entre sombra digital y gemelo digital es medible.</a:t>
            </a:r>
          </a:p>
          <a:p>
            <a:pPr>
              <a:lnSpc>
                <a:spcPct val="105000"/>
              </a:lnSpc>
              <a:spcBef>
                <a:spcPts val="0"/>
              </a:spcBef>
              <a:spcAft>
                <a:spcPts val="1300"/>
              </a:spcAft>
            </a:pPr>
            <a:r>
              <a:rPr sz="1050" b="0" i="0">
                <a:solidFill>
                  <a:srgbClr val="5A6672"/>
                </a:solidFill>
                <a:latin typeface="Calibri"/>
              </a:rPr>
              <a:t>Metodológico — artefacto reproducible byte a byte, con verificación de supuestos y análisis de robustez paramétrica.</a:t>
            </a:r>
          </a:p>
          <a:p>
            <a:pPr>
              <a:lnSpc>
                <a:spcPct val="110000"/>
              </a:lnSpc>
              <a:spcBef>
                <a:spcPts val="0"/>
              </a:spcBef>
              <a:spcAft>
                <a:spcPts val="0"/>
              </a:spcAft>
            </a:pPr>
            <a:r>
              <a:rPr sz="1150" b="1" i="1">
                <a:solidFill>
                  <a:srgbClr val="173A5E"/>
                </a:solidFill>
                <a:latin typeface="Calibri"/>
              </a:rPr>
              <a:t>«No se trata solo de limpiar los datos, sino de reconstruirlos.»</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TRAZABILIDAD</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buNone/>
            </a:pPr>
            <a:r>
              <a:rPr lang="en-US" sz="3000" b="1" dirty="0">
                <a:solidFill>
                  <a:srgbClr val="173A5E"/>
                </a:solidFill>
                <a:latin typeface="Cambria" pitchFamily="34" charset="0"/>
                <a:ea typeface="Cambria" pitchFamily="34" charset="-122"/>
                <a:cs typeface="Cambria" pitchFamily="34" charset="-120"/>
              </a:rPr>
              <a:t>Correspondencia: informe ABP ↔ artículo científico</a:t>
            </a:r>
            <a:endParaRPr lang="en-US" sz="3000" dirty="0"/>
          </a:p>
        </p:txBody>
      </p:sp>
      <p:sp>
        <p:nvSpPr>
          <p:cNvPr id="4" name="Shape 2"/>
          <p:cNvSpPr/>
          <p:nvPr/>
        </p:nvSpPr>
        <p:spPr>
          <a:xfrm>
            <a:off x="548640" y="1965960"/>
            <a:ext cx="3383280" cy="566928"/>
          </a:xfrm>
          <a:prstGeom prst="rect">
            <a:avLst/>
          </a:prstGeom>
          <a:solidFill>
            <a:srgbClr val="173A5E"/>
          </a:solidFill>
          <a:ln w="12700">
            <a:solidFill>
              <a:srgbClr val="D8DEE6"/>
            </a:solidFill>
            <a:prstDash val="solid"/>
          </a:ln>
        </p:spPr>
      </p:sp>
      <p:sp>
        <p:nvSpPr>
          <p:cNvPr id="5" name="Text 3"/>
          <p:cNvSpPr txBox="1"/>
          <p:nvPr/>
        </p:nvSpPr>
        <p:spPr>
          <a:xfrm>
            <a:off x="685800" y="1965960"/>
            <a:ext cx="310896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Sección</a:t>
            </a:r>
            <a:endParaRPr lang="en-US" sz="1350" dirty="0"/>
          </a:p>
        </p:txBody>
      </p:sp>
      <p:sp>
        <p:nvSpPr>
          <p:cNvPr id="6" name="Shape 4"/>
          <p:cNvSpPr/>
          <p:nvPr/>
        </p:nvSpPr>
        <p:spPr>
          <a:xfrm>
            <a:off x="3931920" y="1965960"/>
            <a:ext cx="3840480" cy="566928"/>
          </a:xfrm>
          <a:prstGeom prst="rect">
            <a:avLst/>
          </a:prstGeom>
          <a:solidFill>
            <a:srgbClr val="173A5E"/>
          </a:solidFill>
          <a:ln w="12700">
            <a:solidFill>
              <a:srgbClr val="D8DEE6"/>
            </a:solidFill>
            <a:prstDash val="solid"/>
          </a:ln>
        </p:spPr>
      </p:sp>
      <p:sp>
        <p:nvSpPr>
          <p:cNvPr id="7" name="Text 5"/>
          <p:cNvSpPr txBox="1"/>
          <p:nvPr/>
        </p:nvSpPr>
        <p:spPr>
          <a:xfrm>
            <a:off x="4069080" y="1965960"/>
            <a:ext cx="356616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Informe ABP</a:t>
            </a:r>
            <a:endParaRPr lang="en-US" sz="1350" dirty="0"/>
          </a:p>
        </p:txBody>
      </p:sp>
      <p:sp>
        <p:nvSpPr>
          <p:cNvPr id="8" name="Shape 6"/>
          <p:cNvSpPr/>
          <p:nvPr/>
        </p:nvSpPr>
        <p:spPr>
          <a:xfrm>
            <a:off x="7772400" y="1965960"/>
            <a:ext cx="3840480" cy="566928"/>
          </a:xfrm>
          <a:prstGeom prst="rect">
            <a:avLst/>
          </a:prstGeom>
          <a:solidFill>
            <a:srgbClr val="173A5E"/>
          </a:solidFill>
          <a:ln w="12700">
            <a:solidFill>
              <a:srgbClr val="D8DEE6"/>
            </a:solidFill>
            <a:prstDash val="solid"/>
          </a:ln>
        </p:spPr>
      </p:sp>
      <p:sp>
        <p:nvSpPr>
          <p:cNvPr id="9" name="Text 7"/>
          <p:cNvSpPr txBox="1"/>
          <p:nvPr/>
        </p:nvSpPr>
        <p:spPr>
          <a:xfrm>
            <a:off x="7909560" y="1965960"/>
            <a:ext cx="356616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Artículo (IEEE)</a:t>
            </a:r>
            <a:endParaRPr lang="en-US" sz="1350" dirty="0"/>
          </a:p>
        </p:txBody>
      </p:sp>
      <p:sp>
        <p:nvSpPr>
          <p:cNvPr id="10" name="Shape 8"/>
          <p:cNvSpPr/>
          <p:nvPr/>
        </p:nvSpPr>
        <p:spPr>
          <a:xfrm>
            <a:off x="548640" y="2532888"/>
            <a:ext cx="3383280" cy="566928"/>
          </a:xfrm>
          <a:prstGeom prst="rect">
            <a:avLst/>
          </a:prstGeom>
          <a:solidFill>
            <a:srgbClr val="F4F8FC"/>
          </a:solidFill>
          <a:ln w="12700">
            <a:solidFill>
              <a:srgbClr val="D8DEE6"/>
            </a:solidFill>
            <a:prstDash val="solid"/>
          </a:ln>
        </p:spPr>
      </p:sp>
      <p:sp>
        <p:nvSpPr>
          <p:cNvPr id="11" name="Text 9"/>
          <p:cNvSpPr txBox="1"/>
          <p:nvPr/>
        </p:nvSpPr>
        <p:spPr>
          <a:xfrm>
            <a:off x="685800" y="2532888"/>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Problema / objetivos</a:t>
            </a:r>
            <a:endParaRPr lang="en-US" sz="1350" dirty="0"/>
          </a:p>
        </p:txBody>
      </p:sp>
      <p:sp>
        <p:nvSpPr>
          <p:cNvPr id="12" name="Shape 10"/>
          <p:cNvSpPr/>
          <p:nvPr/>
        </p:nvSpPr>
        <p:spPr>
          <a:xfrm>
            <a:off x="3931920" y="2532888"/>
            <a:ext cx="3840480" cy="566928"/>
          </a:xfrm>
          <a:prstGeom prst="rect">
            <a:avLst/>
          </a:prstGeom>
          <a:solidFill>
            <a:srgbClr val="F4F8FC"/>
          </a:solidFill>
          <a:ln w="12700">
            <a:solidFill>
              <a:srgbClr val="D8DEE6"/>
            </a:solidFill>
            <a:prstDash val="solid"/>
          </a:ln>
        </p:spPr>
      </p:sp>
      <p:sp>
        <p:nvSpPr>
          <p:cNvPr id="13" name="Text 11"/>
          <p:cNvSpPr txBox="1"/>
          <p:nvPr/>
        </p:nvSpPr>
        <p:spPr>
          <a:xfrm>
            <a:off x="4069080" y="2532888"/>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Secciones 3 a 5</a:t>
            </a:r>
            <a:endParaRPr lang="en-US" sz="1350" dirty="0"/>
          </a:p>
        </p:txBody>
      </p:sp>
      <p:sp>
        <p:nvSpPr>
          <p:cNvPr id="14" name="Shape 12"/>
          <p:cNvSpPr/>
          <p:nvPr/>
        </p:nvSpPr>
        <p:spPr>
          <a:xfrm>
            <a:off x="7772400" y="2532888"/>
            <a:ext cx="3840480" cy="566928"/>
          </a:xfrm>
          <a:prstGeom prst="rect">
            <a:avLst/>
          </a:prstGeom>
          <a:solidFill>
            <a:srgbClr val="F4F8FC"/>
          </a:solidFill>
          <a:ln w="12700">
            <a:solidFill>
              <a:srgbClr val="D8DEE6"/>
            </a:solidFill>
            <a:prstDash val="solid"/>
          </a:ln>
        </p:spPr>
      </p:sp>
      <p:sp>
        <p:nvSpPr>
          <p:cNvPr id="15" name="Text 13"/>
          <p:cNvSpPr txBox="1"/>
          <p:nvPr/>
        </p:nvSpPr>
        <p:spPr>
          <a:xfrm>
            <a:off x="7909560" y="2532888"/>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I. Introduction</a:t>
            </a:r>
            <a:endParaRPr lang="en-US" sz="1350" dirty="0"/>
          </a:p>
        </p:txBody>
      </p:sp>
      <p:sp>
        <p:nvSpPr>
          <p:cNvPr id="16" name="Shape 14"/>
          <p:cNvSpPr/>
          <p:nvPr/>
        </p:nvSpPr>
        <p:spPr>
          <a:xfrm>
            <a:off x="548640" y="3099816"/>
            <a:ext cx="3383280" cy="566928"/>
          </a:xfrm>
          <a:prstGeom prst="rect">
            <a:avLst/>
          </a:prstGeom>
          <a:solidFill>
            <a:srgbClr val="FFFFFF"/>
          </a:solidFill>
          <a:ln w="12700">
            <a:solidFill>
              <a:srgbClr val="D8DEE6"/>
            </a:solidFill>
            <a:prstDash val="solid"/>
          </a:ln>
        </p:spPr>
      </p:sp>
      <p:sp>
        <p:nvSpPr>
          <p:cNvPr id="17" name="Text 15"/>
          <p:cNvSpPr txBox="1"/>
          <p:nvPr/>
        </p:nvSpPr>
        <p:spPr>
          <a:xfrm>
            <a:off x="685800" y="3099816"/>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Marco teórico</a:t>
            </a:r>
            <a:endParaRPr lang="en-US" sz="1350" dirty="0"/>
          </a:p>
        </p:txBody>
      </p:sp>
      <p:sp>
        <p:nvSpPr>
          <p:cNvPr id="18" name="Shape 16"/>
          <p:cNvSpPr/>
          <p:nvPr/>
        </p:nvSpPr>
        <p:spPr>
          <a:xfrm>
            <a:off x="3931920" y="3099816"/>
            <a:ext cx="3840480" cy="566928"/>
          </a:xfrm>
          <a:prstGeom prst="rect">
            <a:avLst/>
          </a:prstGeom>
          <a:solidFill>
            <a:srgbClr val="FFFFFF"/>
          </a:solidFill>
          <a:ln w="12700">
            <a:solidFill>
              <a:srgbClr val="D8DEE6"/>
            </a:solidFill>
            <a:prstDash val="solid"/>
          </a:ln>
        </p:spPr>
      </p:sp>
      <p:sp>
        <p:nvSpPr>
          <p:cNvPr id="19" name="Text 17"/>
          <p:cNvSpPr txBox="1"/>
          <p:nvPr/>
        </p:nvSpPr>
        <p:spPr>
          <a:xfrm>
            <a:off x="4069080" y="3099816"/>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Secciones 6 y 8</a:t>
            </a:r>
            <a:endParaRPr lang="en-US" sz="1350" dirty="0"/>
          </a:p>
        </p:txBody>
      </p:sp>
      <p:sp>
        <p:nvSpPr>
          <p:cNvPr id="20" name="Shape 18"/>
          <p:cNvSpPr/>
          <p:nvPr/>
        </p:nvSpPr>
        <p:spPr>
          <a:xfrm>
            <a:off x="7772400" y="3099816"/>
            <a:ext cx="3840480" cy="566928"/>
          </a:xfrm>
          <a:prstGeom prst="rect">
            <a:avLst/>
          </a:prstGeom>
          <a:solidFill>
            <a:srgbClr val="FFFFFF"/>
          </a:solidFill>
          <a:ln w="12700">
            <a:solidFill>
              <a:srgbClr val="D8DEE6"/>
            </a:solidFill>
            <a:prstDash val="solid"/>
          </a:ln>
        </p:spPr>
      </p:sp>
      <p:sp>
        <p:nvSpPr>
          <p:cNvPr id="21" name="Text 19"/>
          <p:cNvSpPr txBox="1"/>
          <p:nvPr/>
        </p:nvSpPr>
        <p:spPr>
          <a:xfrm>
            <a:off x="7909560" y="3099816"/>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II. Related Work</a:t>
            </a:r>
            <a:endParaRPr lang="en-US" sz="1350" dirty="0"/>
          </a:p>
        </p:txBody>
      </p:sp>
      <p:sp>
        <p:nvSpPr>
          <p:cNvPr id="22" name="Shape 20"/>
          <p:cNvSpPr/>
          <p:nvPr/>
        </p:nvSpPr>
        <p:spPr>
          <a:xfrm>
            <a:off x="548640" y="3666744"/>
            <a:ext cx="3383280" cy="566928"/>
          </a:xfrm>
          <a:prstGeom prst="rect">
            <a:avLst/>
          </a:prstGeom>
          <a:solidFill>
            <a:srgbClr val="F4F8FC"/>
          </a:solidFill>
          <a:ln w="12700">
            <a:solidFill>
              <a:srgbClr val="D8DEE6"/>
            </a:solidFill>
            <a:prstDash val="solid"/>
          </a:ln>
        </p:spPr>
      </p:sp>
      <p:sp>
        <p:nvSpPr>
          <p:cNvPr id="23" name="Text 21"/>
          <p:cNvSpPr txBox="1"/>
          <p:nvPr/>
        </p:nvSpPr>
        <p:spPr>
          <a:xfrm>
            <a:off x="685800" y="3666744"/>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Metodología</a:t>
            </a:r>
            <a:endParaRPr lang="en-US" sz="1350" dirty="0"/>
          </a:p>
        </p:txBody>
      </p:sp>
      <p:sp>
        <p:nvSpPr>
          <p:cNvPr id="24" name="Shape 22"/>
          <p:cNvSpPr/>
          <p:nvPr/>
        </p:nvSpPr>
        <p:spPr>
          <a:xfrm>
            <a:off x="3931920" y="3666744"/>
            <a:ext cx="3840480" cy="566928"/>
          </a:xfrm>
          <a:prstGeom prst="rect">
            <a:avLst/>
          </a:prstGeom>
          <a:solidFill>
            <a:srgbClr val="F4F8FC"/>
          </a:solidFill>
          <a:ln w="12700">
            <a:solidFill>
              <a:srgbClr val="D8DEE6"/>
            </a:solidFill>
            <a:prstDash val="solid"/>
          </a:ln>
        </p:spPr>
      </p:sp>
      <p:sp>
        <p:nvSpPr>
          <p:cNvPr id="25" name="Text 23"/>
          <p:cNvSpPr txBox="1"/>
          <p:nvPr/>
        </p:nvSpPr>
        <p:spPr>
          <a:xfrm>
            <a:off x="4069080" y="3666744"/>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Secciones 9 a 13</a:t>
            </a:r>
            <a:endParaRPr lang="en-US" sz="1350" dirty="0"/>
          </a:p>
        </p:txBody>
      </p:sp>
      <p:sp>
        <p:nvSpPr>
          <p:cNvPr id="26" name="Shape 24"/>
          <p:cNvSpPr/>
          <p:nvPr/>
        </p:nvSpPr>
        <p:spPr>
          <a:xfrm>
            <a:off x="7772400" y="3666744"/>
            <a:ext cx="3840480" cy="566928"/>
          </a:xfrm>
          <a:prstGeom prst="rect">
            <a:avLst/>
          </a:prstGeom>
          <a:solidFill>
            <a:srgbClr val="F4F8FC"/>
          </a:solidFill>
          <a:ln w="12700">
            <a:solidFill>
              <a:srgbClr val="D8DEE6"/>
            </a:solidFill>
            <a:prstDash val="solid"/>
          </a:ln>
        </p:spPr>
      </p:sp>
      <p:sp>
        <p:nvSpPr>
          <p:cNvPr id="27" name="Text 25"/>
          <p:cNvSpPr txBox="1"/>
          <p:nvPr/>
        </p:nvSpPr>
        <p:spPr>
          <a:xfrm>
            <a:off x="7909560" y="3666744"/>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III–IV. Problem Formulation
y Methodology</a:t>
            </a:r>
            <a:endParaRPr lang="en-US" sz="1350" dirty="0"/>
          </a:p>
        </p:txBody>
      </p:sp>
      <p:sp>
        <p:nvSpPr>
          <p:cNvPr id="28" name="Shape 26"/>
          <p:cNvSpPr/>
          <p:nvPr/>
        </p:nvSpPr>
        <p:spPr>
          <a:xfrm>
            <a:off x="548640" y="4233672"/>
            <a:ext cx="3383280" cy="566928"/>
          </a:xfrm>
          <a:prstGeom prst="rect">
            <a:avLst/>
          </a:prstGeom>
          <a:solidFill>
            <a:srgbClr val="FFFFFF"/>
          </a:solidFill>
          <a:ln w="12700">
            <a:solidFill>
              <a:srgbClr val="D8DEE6"/>
            </a:solidFill>
            <a:prstDash val="solid"/>
          </a:ln>
        </p:spPr>
      </p:sp>
      <p:sp>
        <p:nvSpPr>
          <p:cNvPr id="29" name="Text 27"/>
          <p:cNvSpPr txBox="1"/>
          <p:nvPr/>
        </p:nvSpPr>
        <p:spPr>
          <a:xfrm>
            <a:off x="685800" y="4233672"/>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Resultados</a:t>
            </a:r>
            <a:endParaRPr lang="en-US" sz="1350" dirty="0"/>
          </a:p>
        </p:txBody>
      </p:sp>
      <p:sp>
        <p:nvSpPr>
          <p:cNvPr id="30" name="Shape 28"/>
          <p:cNvSpPr/>
          <p:nvPr/>
        </p:nvSpPr>
        <p:spPr>
          <a:xfrm>
            <a:off x="3931920" y="4233672"/>
            <a:ext cx="3840480" cy="566928"/>
          </a:xfrm>
          <a:prstGeom prst="rect">
            <a:avLst/>
          </a:prstGeom>
          <a:solidFill>
            <a:srgbClr val="FFFFFF"/>
          </a:solidFill>
          <a:ln w="12700">
            <a:solidFill>
              <a:srgbClr val="D8DEE6"/>
            </a:solidFill>
            <a:prstDash val="solid"/>
          </a:ln>
        </p:spPr>
      </p:sp>
      <p:sp>
        <p:nvSpPr>
          <p:cNvPr id="31" name="Text 29"/>
          <p:cNvSpPr txBox="1"/>
          <p:nvPr/>
        </p:nvSpPr>
        <p:spPr>
          <a:xfrm>
            <a:off x="4069080" y="4233672"/>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Sección 14</a:t>
            </a:r>
            <a:endParaRPr lang="en-US" sz="1350" dirty="0"/>
          </a:p>
        </p:txBody>
      </p:sp>
      <p:sp>
        <p:nvSpPr>
          <p:cNvPr id="32" name="Shape 30"/>
          <p:cNvSpPr/>
          <p:nvPr/>
        </p:nvSpPr>
        <p:spPr>
          <a:xfrm>
            <a:off x="7772400" y="4233672"/>
            <a:ext cx="3840480" cy="566928"/>
          </a:xfrm>
          <a:prstGeom prst="rect">
            <a:avLst/>
          </a:prstGeom>
          <a:solidFill>
            <a:srgbClr val="FFFFFF"/>
          </a:solidFill>
          <a:ln w="12700">
            <a:solidFill>
              <a:srgbClr val="D8DEE6"/>
            </a:solidFill>
            <a:prstDash val="solid"/>
          </a:ln>
        </p:spPr>
      </p:sp>
      <p:sp>
        <p:nvSpPr>
          <p:cNvPr id="33" name="Text 31"/>
          <p:cNvSpPr txBox="1"/>
          <p:nvPr/>
        </p:nvSpPr>
        <p:spPr>
          <a:xfrm>
            <a:off x="7909560" y="4233672"/>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V. Results</a:t>
            </a:r>
            <a:endParaRPr lang="en-US" sz="1350" dirty="0"/>
          </a:p>
        </p:txBody>
      </p:sp>
      <p:sp>
        <p:nvSpPr>
          <p:cNvPr id="34" name="Shape 32"/>
          <p:cNvSpPr/>
          <p:nvPr/>
        </p:nvSpPr>
        <p:spPr>
          <a:xfrm>
            <a:off x="548640" y="4800600"/>
            <a:ext cx="3383280" cy="566928"/>
          </a:xfrm>
          <a:prstGeom prst="rect">
            <a:avLst/>
          </a:prstGeom>
          <a:solidFill>
            <a:srgbClr val="F4F8FC"/>
          </a:solidFill>
          <a:ln w="12700">
            <a:solidFill>
              <a:srgbClr val="D8DEE6"/>
            </a:solidFill>
            <a:prstDash val="solid"/>
          </a:ln>
        </p:spPr>
      </p:sp>
      <p:sp>
        <p:nvSpPr>
          <p:cNvPr id="35" name="Text 33"/>
          <p:cNvSpPr txBox="1"/>
          <p:nvPr/>
        </p:nvSpPr>
        <p:spPr>
          <a:xfrm>
            <a:off x="685800" y="4800600"/>
            <a:ext cx="3108960" cy="566928"/>
          </a:xfrm>
          <a:prstGeom prst="rect">
            <a:avLst/>
          </a:prstGeom>
          <a:noFill/>
          <a:ln/>
        </p:spPr>
        <p:txBody>
          <a:bodyPr wrap="square" lIns="0" tIns="0" rIns="0" bIns="0" rtlCol="0" anchor="ctr"/>
          <a:lstStyle/>
          <a:p>
            <a:pPr algn="l" indent="0" marL="0">
              <a:buNone/>
            </a:pPr>
            <a:r>
              <a:rPr lang="en-US" sz="1350" dirty="0">
                <a:solidFill>
                  <a:srgbClr val="1B4570"/>
                </a:solidFill>
                <a:latin typeface="Calibri" pitchFamily="34" charset="0"/>
                <a:ea typeface="Calibri" pitchFamily="34" charset="-122"/>
                <a:cs typeface="Calibri" pitchFamily="34" charset="-120"/>
              </a:rPr>
              <a:t>Discusión / conclusiones</a:t>
            </a:r>
            <a:endParaRPr lang="en-US" sz="1350" dirty="0"/>
          </a:p>
        </p:txBody>
      </p:sp>
      <p:sp>
        <p:nvSpPr>
          <p:cNvPr id="36" name="Shape 34"/>
          <p:cNvSpPr/>
          <p:nvPr/>
        </p:nvSpPr>
        <p:spPr>
          <a:xfrm>
            <a:off x="3931920" y="4800600"/>
            <a:ext cx="3840480" cy="566928"/>
          </a:xfrm>
          <a:prstGeom prst="rect">
            <a:avLst/>
          </a:prstGeom>
          <a:solidFill>
            <a:srgbClr val="F4F8FC"/>
          </a:solidFill>
          <a:ln w="12700">
            <a:solidFill>
              <a:srgbClr val="D8DEE6"/>
            </a:solidFill>
            <a:prstDash val="solid"/>
          </a:ln>
        </p:spPr>
      </p:sp>
      <p:sp>
        <p:nvSpPr>
          <p:cNvPr id="37" name="Text 35"/>
          <p:cNvSpPr txBox="1"/>
          <p:nvPr/>
        </p:nvSpPr>
        <p:spPr>
          <a:xfrm>
            <a:off x="4069080" y="4800600"/>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Secciones 18 y 19</a:t>
            </a:r>
            <a:endParaRPr lang="en-US" sz="1350" dirty="0"/>
          </a:p>
        </p:txBody>
      </p:sp>
      <p:sp>
        <p:nvSpPr>
          <p:cNvPr id="38" name="Shape 36"/>
          <p:cNvSpPr/>
          <p:nvPr/>
        </p:nvSpPr>
        <p:spPr>
          <a:xfrm>
            <a:off x="7772400" y="4800600"/>
            <a:ext cx="3840480" cy="566928"/>
          </a:xfrm>
          <a:prstGeom prst="rect">
            <a:avLst/>
          </a:prstGeom>
          <a:solidFill>
            <a:srgbClr val="F4F8FC"/>
          </a:solidFill>
          <a:ln w="12700">
            <a:solidFill>
              <a:srgbClr val="D8DEE6"/>
            </a:solidFill>
            <a:prstDash val="solid"/>
          </a:ln>
        </p:spPr>
      </p:sp>
      <p:sp>
        <p:nvSpPr>
          <p:cNvPr id="39" name="Text 37"/>
          <p:cNvSpPr txBox="1"/>
          <p:nvPr/>
        </p:nvSpPr>
        <p:spPr>
          <a:xfrm>
            <a:off x="7909560" y="4800600"/>
            <a:ext cx="3566160" cy="566928"/>
          </a:xfrm>
          <a:prstGeom prst="rect">
            <a:avLst/>
          </a:prstGeom>
          <a:noFill/>
          <a:ln/>
        </p:spPr>
        <p:txBody>
          <a:bodyPr wrap="square" lIns="0" tIns="0" rIns="0" bIns="0" rtlCol="0" anchor="ctr"/>
          <a:lstStyle/>
          <a:p>
            <a:pPr algn="l" indent="0" marL="0">
              <a:lnSpc>
                <a:spcPct val="100000"/>
              </a:lnSpc>
              <a:spcBef>
                <a:spcPts val="0"/>
              </a:spcBef>
              <a:spcAft>
                <a:spcPts val="0"/>
              </a:spcAft>
              <a:buNone/>
            </a:pPr>
            <a:r>
              <a:rPr sz="1000" b="0" i="0">
                <a:solidFill>
                  <a:srgbClr val="5A6672"/>
                </a:solidFill>
                <a:latin typeface="Calibri"/>
              </a:rPr>
              <a:t>VI–VII. Discussion y
Conclusion and Future Work</a:t>
            </a:r>
            <a:endParaRPr lang="en-US" sz="1350" dirty="0"/>
          </a:p>
        </p:txBody>
      </p:sp>
      <p:sp>
        <p:nvSpPr>
          <p:cNvPr id="40" name="Text 38"/>
          <p:cNvSpPr txBox="1"/>
          <p:nvPr/>
        </p:nvSpPr>
        <p:spPr>
          <a:xfrm>
            <a:off x="548640" y="5852160"/>
            <a:ext cx="11064240" cy="457200"/>
          </a:xfrm>
          <a:prstGeom prst="rect">
            <a:avLst/>
          </a:prstGeom>
          <a:noFill/>
          <a:ln/>
        </p:spPr>
        <p:txBody>
          <a:bodyPr wrap="square" lIns="0" tIns="0" rIns="0" bIns="0" rtlCol="0" anchor="ctr"/>
          <a:lstStyle/>
          <a:p>
            <a:pPr indent="0" marL="0">
              <a:lnSpc>
                <a:spcPct val="105000"/>
              </a:lnSpc>
              <a:spcBef>
                <a:spcPts val="0"/>
              </a:spcBef>
              <a:spcAft>
                <a:spcPts val="0"/>
              </a:spcAft>
              <a:buNone/>
            </a:pPr>
            <a:r>
              <a:rPr sz="1000" b="0" i="1">
                <a:solidFill>
                  <a:srgbClr val="8894A0"/>
                </a:solidFill>
                <a:latin typeface="Calibri"/>
              </a:rPr>
              <a:t>La correspondencia está documentada formalmente en el Anexo B del informe. Ambos productos comparten el mismo archivo de referencias, las mismas figuras y los mismos valores numéricos.</a:t>
            </a:r>
            <a:endParaRPr lang="en-US" sz="1250" dirty="0"/>
          </a:p>
        </p:txBody>
      </p:sp>
      <p:sp>
        <p:nvSpPr>
          <p:cNvPr id="41" name="Text 39"/>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42" name="Text 40"/>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A5E"/>
        </a:solidFill>
      </p:bgPr>
    </p:bg>
    <p:spTree>
      <p:nvGrpSpPr>
        <p:cNvPr id="1" name=""/>
        <p:cNvGrpSpPr/>
        <p:nvPr/>
      </p:nvGrpSpPr>
      <p:grpSpPr>
        <a:xfrm>
          <a:off x="0" y="0"/>
          <a:ext cx="0" cy="0"/>
          <a:chOff x="0" y="0"/>
          <a:chExt cx="0" cy="0"/>
        </a:xfrm>
      </p:grpSpPr>
      <p:sp>
        <p:nvSpPr>
          <p:cNvPr id="2" name="Shape 0"/>
          <p:cNvSpPr/>
          <p:nvPr/>
        </p:nvSpPr>
        <p:spPr>
          <a:xfrm>
            <a:off x="548640" y="2331720"/>
            <a:ext cx="822960" cy="128016"/>
          </a:xfrm>
          <a:prstGeom prst="rect">
            <a:avLst/>
          </a:prstGeom>
          <a:solidFill>
            <a:srgbClr val="C8102E"/>
          </a:solidFill>
          <a:ln/>
        </p:spPr>
      </p:sp>
      <p:sp>
        <p:nvSpPr>
          <p:cNvPr id="3" name="Text 1"/>
          <p:cNvSpPr txBox="1"/>
          <p:nvPr/>
        </p:nvSpPr>
        <p:spPr>
          <a:xfrm>
            <a:off x="548640" y="2560320"/>
            <a:ext cx="109728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Preguntas y defensa</a:t>
            </a:r>
            <a:endParaRPr lang="en-US" sz="4000" dirty="0"/>
          </a:p>
        </p:txBody>
      </p:sp>
      <p:sp>
        <p:nvSpPr>
          <p:cNvPr id="4" name="Text 2"/>
          <p:cNvSpPr txBox="1"/>
          <p:nvPr/>
        </p:nvSpPr>
        <p:spPr>
          <a:xfrm>
            <a:off x="548640" y="3566160"/>
            <a:ext cx="1051560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10 minutos · Fundamenta tus respuestas en el diseño metodológico, los resultados y las decisiones del estudio.</a:t>
            </a:r>
            <a:endParaRPr lang="en-US" sz="1600" dirty="0"/>
          </a:p>
        </p:txBody>
      </p:sp>
      <p:sp>
        <p:nvSpPr>
          <p:cNvPr id="5" name="Text 3"/>
          <p:cNvSpPr txBox="1"/>
          <p:nvPr/>
        </p:nvSpPr>
        <p:spPr>
          <a:xfrm>
            <a:off x="548640" y="5943600"/>
            <a:ext cx="10972800" cy="365760"/>
          </a:xfrm>
          <a:prstGeom prst="rect">
            <a:avLst/>
          </a:prstGeom>
          <a:noFill/>
          <a:ln/>
        </p:spPr>
        <p:txBody>
          <a:bodyPr wrap="square" lIns="0" tIns="0" rIns="0" bIns="0" rtlCol="0" anchor="ctr"/>
          <a:lstStyle/>
          <a:p>
            <a:pPr indent="0" marL="0">
              <a:lnSpc>
                <a:spcPct val="105000"/>
              </a:lnSpc>
              <a:spcBef>
                <a:spcPts val="0"/>
              </a:spcBef>
              <a:spcAft>
                <a:spcPts val="0"/>
              </a:spcAft>
              <a:buNone/>
            </a:pPr>
            <a:r>
              <a:rPr sz="1200" b="0" i="0">
                <a:solidFill>
                  <a:srgbClr val="9FB6D4"/>
                </a:solidFill>
                <a:latin typeface="Calibri"/>
              </a:rPr>
              <a:t>Daniel Alejandro Prado Correa  ·  Proyecto de Investigación (ACIF3002)  ·  Universidad Andrés Bello</a:t>
            </a:r>
            <a:endParaRPr 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548640" y="502920"/>
            <a:ext cx="10058400" cy="365760"/>
          </a:xfrm>
          <a:prstGeom prst="rect">
            <a:avLst/>
          </a:prstGeom>
          <a:noFill/>
          <a:ln/>
        </p:spPr>
        <p:txBody>
          <a:bodyPr wrap="square" lIns="0" tIns="0" rIns="0" bIns="0" rtlCol="0" anchor="ctr"/>
          <a:lstStyle/>
          <a:p>
            <a:pPr algn="l" indent="0" marL="0">
              <a:buNone/>
            </a:pPr>
            <a:r>
              <a:rPr lang="en-US" sz="1300" b="1" spc="200" kern="0" dirty="0">
                <a:solidFill>
                  <a:srgbClr val="C8102E"/>
                </a:solidFill>
                <a:latin typeface="Calibri" pitchFamily="34" charset="0"/>
                <a:ea typeface="Calibri" pitchFamily="34" charset="-122"/>
                <a:cs typeface="Calibri" pitchFamily="34" charset="-120"/>
              </a:rPr>
              <a:t>BLOQUE 5</a:t>
            </a:r>
            <a:endParaRPr lang="en-US" sz="1300" dirty="0"/>
          </a:p>
        </p:txBody>
      </p:sp>
      <p:sp>
        <p:nvSpPr>
          <p:cNvPr id="3" name="Text 1"/>
          <p:cNvSpPr txBox="1"/>
          <p:nvPr/>
        </p:nvSpPr>
        <p:spPr>
          <a:xfrm>
            <a:off x="548640" y="868680"/>
            <a:ext cx="11064240" cy="822960"/>
          </a:xfrm>
          <a:prstGeom prst="rect">
            <a:avLst/>
          </a:prstGeom>
          <a:noFill/>
          <a:ln/>
        </p:spPr>
        <p:txBody>
          <a:bodyPr wrap="square" lIns="0" tIns="0" rIns="0" bIns="0" rtlCol="0" anchor="ctr"/>
          <a:lstStyle/>
          <a:p>
            <a:pPr algn="l" indent="0" marL="0">
              <a:lnSpc>
                <a:spcPct val="105000"/>
              </a:lnSpc>
              <a:spcBef>
                <a:spcPts val="0"/>
              </a:spcBef>
              <a:spcAft>
                <a:spcPts val="0"/>
              </a:spcAft>
              <a:buNone/>
            </a:pPr>
            <a:r>
              <a:rPr sz="3000" b="1" i="0">
                <a:solidFill>
                  <a:srgbClr val="173A5E"/>
                </a:solidFill>
                <a:latin typeface="Cambria"/>
              </a:rPr>
              <a:t>Validación estadística y robustez</a:t>
            </a:r>
            <a:endParaRPr lang="en-US" sz="3000" dirty="0"/>
          </a:p>
        </p:txBody>
      </p:sp>
      <p:sp>
        <p:nvSpPr>
          <p:cNvPr id="4" name="Shape 2"/>
          <p:cNvSpPr/>
          <p:nvPr/>
        </p:nvSpPr>
        <p:spPr>
          <a:xfrm>
            <a:off x="10012680" y="457200"/>
            <a:ext cx="1600200" cy="411480"/>
          </a:xfrm>
          <a:prstGeom prst="roundRect">
            <a:avLst>
              <a:gd name="adj" fmla="val 48889"/>
            </a:avLst>
          </a:prstGeom>
          <a:solidFill>
            <a:srgbClr val="EEF4FA"/>
          </a:solidFill>
          <a:ln w="12700">
            <a:solidFill>
              <a:srgbClr val="D8DEE6"/>
            </a:solidFill>
            <a:prstDash val="solid"/>
          </a:ln>
        </p:spPr>
      </p:sp>
      <p:sp>
        <p:nvSpPr>
          <p:cNvPr id="5" name="Text 3"/>
          <p:cNvSpPr txBox="1"/>
          <p:nvPr/>
        </p:nvSpPr>
        <p:spPr>
          <a:xfrm>
            <a:off x="10012680" y="457200"/>
            <a:ext cx="1600200" cy="411480"/>
          </a:xfrm>
          <a:prstGeom prst="rect">
            <a:avLst/>
          </a:prstGeom>
          <a:noFill/>
          <a:ln/>
        </p:spPr>
        <p:txBody>
          <a:bodyPr wrap="square" lIns="0" tIns="0" rIns="0" bIns="0" rtlCol="0" anchor="ctr"/>
          <a:lstStyle/>
          <a:p>
            <a:pPr algn="ctr" indent="0" marL="0">
              <a:lnSpc>
                <a:spcPct val="105000"/>
              </a:lnSpc>
              <a:spcBef>
                <a:spcPts val="0"/>
              </a:spcBef>
              <a:spcAft>
                <a:spcPts val="0"/>
              </a:spcAft>
              <a:buNone/>
            </a:pPr>
            <a:r>
              <a:rPr sz="1100" b="1" i="0">
                <a:solidFill>
                  <a:srgbClr val="1B4570"/>
                </a:solidFill>
                <a:latin typeface="Calibri"/>
              </a:rPr>
              <a:t>≈ 1 min</a:t>
            </a:r>
            <a:endParaRPr lang="en-US" sz="1100" dirty="0"/>
          </a:p>
        </p:txBody>
      </p:sp>
      <p:sp>
        <p:nvSpPr>
          <p:cNvPr id="6" name="Shape 4"/>
          <p:cNvSpPr/>
          <p:nvPr/>
        </p:nvSpPr>
        <p:spPr>
          <a:xfrm>
            <a:off x="548640" y="1828800"/>
            <a:ext cx="6583680" cy="4114800"/>
          </a:xfrm>
          <a:prstGeom prst="roundRect">
            <a:avLst>
              <a:gd name="adj" fmla="val 1778"/>
            </a:avLst>
          </a:prstGeom>
          <a:solidFill>
            <a:srgbClr val="EEF4FA"/>
          </a:solidFill>
          <a:ln w="12700">
            <a:solidFill>
              <a:srgbClr val="D8DEE6"/>
            </a:solidFill>
            <a:prstDash val="solid"/>
          </a:ln>
        </p:spPr>
      </p:sp>
      <p:sp>
        <p:nvSpPr>
          <p:cNvPr id="8" name="Shape 6"/>
          <p:cNvSpPr/>
          <p:nvPr/>
        </p:nvSpPr>
        <p:spPr>
          <a:xfrm>
            <a:off x="7360920" y="1828800"/>
            <a:ext cx="4251960" cy="4114800"/>
          </a:xfrm>
          <a:prstGeom prst="roundRect">
            <a:avLst>
              <a:gd name="adj" fmla="val 1778"/>
            </a:avLst>
          </a:prstGeom>
          <a:solidFill>
            <a:srgbClr val="FBFCFE"/>
          </a:solidFill>
          <a:ln w="12700">
            <a:solidFill>
              <a:srgbClr val="D8DEE6"/>
            </a:solidFill>
            <a:prstDash val="dash"/>
          </a:ln>
        </p:spPr>
      </p:sp>
      <p:sp>
        <p:nvSpPr>
          <p:cNvPr id="9" name="Text 7"/>
          <p:cNvSpPr txBox="1"/>
          <p:nvPr/>
        </p:nvSpPr>
        <p:spPr>
          <a:xfrm>
            <a:off x="7589520" y="1993392"/>
            <a:ext cx="3794760" cy="3785616"/>
          </a:xfrm>
          <a:prstGeom prst="rect">
            <a:avLst/>
          </a:prstGeom>
          <a:noFill/>
          <a:ln/>
        </p:spPr>
        <p:txBody>
          <a:bodyPr wrap="square" lIns="0" tIns="0" rIns="0" bIns="0" rtlCol="0" anchor="t"/>
          <a:lstStyle/>
          <a:p>
            <a:pPr algn="l" indent="0" marL="0">
              <a:lnSpc>
                <a:spcPct val="100000"/>
              </a:lnSpc>
              <a:spcBef>
                <a:spcPts val="0"/>
              </a:spcBef>
              <a:spcAft>
                <a:spcPts val="1000"/>
              </a:spcAft>
              <a:buNone/>
            </a:pPr>
            <a:pPr algn="l" indent="0" marL="0">
              <a:buNone/>
            </a:pPr>
            <a:r>
              <a:rPr sz="1150" b="1" i="0">
                <a:solidFill>
                  <a:srgbClr val="C8102E"/>
                </a:solidFill>
                <a:latin typeface="Calibri"/>
              </a:rPr>
              <a:t>Inferencia pareada sobre el RMSE</a:t>
            </a:r>
            <a:endParaRPr lang="en-US" sz="1200" dirty="0"/>
          </a:p>
          <a:p>
            <a:pPr>
              <a:lnSpc>
                <a:spcPct val="105000"/>
              </a:lnSpc>
              <a:spcBef>
                <a:spcPts val="0"/>
              </a:spcBef>
              <a:spcAft>
                <a:spcPts val="800"/>
              </a:spcAft>
            </a:pPr>
            <a:r>
              <a:rPr sz="1050" b="0" i="0">
                <a:solidFill>
                  <a:srgbClr val="5A6672"/>
                </a:solidFill>
                <a:latin typeface="Calibri"/>
              </a:rPr>
              <a:t>•  Reducción media: 1,5106 m³ — IC 95 % [1,4881 ; 1,5330].</a:t>
            </a:r>
          </a:p>
          <a:p>
            <a:pPr>
              <a:lnSpc>
                <a:spcPct val="105000"/>
              </a:lnSpc>
              <a:spcBef>
                <a:spcPts val="0"/>
              </a:spcBef>
              <a:spcAft>
                <a:spcPts val="800"/>
              </a:spcAft>
            </a:pPr>
            <a:r>
              <a:rPr sz="1050" b="0" i="0">
                <a:solidFill>
                  <a:srgbClr val="5A6672"/>
                </a:solidFill>
                <a:latin typeface="Calibri"/>
              </a:rPr>
              <a:t>•  Prueba t pareada: t(49) = 135,24 ; p = 5,15×10⁻⁶⁵  →  se rechaza H₀.</a:t>
            </a:r>
          </a:p>
          <a:p>
            <a:pPr>
              <a:lnSpc>
                <a:spcPct val="105000"/>
              </a:lnSpc>
              <a:spcBef>
                <a:spcPts val="0"/>
              </a:spcBef>
              <a:spcAft>
                <a:spcPts val="800"/>
              </a:spcAft>
            </a:pPr>
            <a:r>
              <a:rPr sz="1050" b="0" i="0">
                <a:solidFill>
                  <a:srgbClr val="5A6672"/>
                </a:solidFill>
                <a:latin typeface="Calibri"/>
              </a:rPr>
              <a:t>•  Tamaño del efecto: d de Cohen = 19,13.</a:t>
            </a:r>
          </a:p>
          <a:p>
            <a:pPr>
              <a:lnSpc>
                <a:spcPct val="105000"/>
              </a:lnSpc>
              <a:spcBef>
                <a:spcPts val="0"/>
              </a:spcBef>
              <a:spcAft>
                <a:spcPts val="800"/>
              </a:spcAft>
            </a:pPr>
            <a:r>
              <a:rPr sz="1050" b="1" i="0">
                <a:solidFill>
                  <a:srgbClr val="C8102E"/>
                </a:solidFill>
                <a:latin typeface="Calibri"/>
              </a:rPr>
              <a:t>•  Shapiro-Wilk: W = 0,946 ; p = 0,0233  →  se rechaza la normalidad.</a:t>
            </a:r>
          </a:p>
          <a:p>
            <a:pPr>
              <a:lnSpc>
                <a:spcPct val="105000"/>
              </a:lnSpc>
              <a:spcBef>
                <a:spcPts val="0"/>
              </a:spcBef>
              <a:spcAft>
                <a:spcPts val="1100"/>
              </a:spcAft>
            </a:pPr>
            <a:r>
              <a:rPr sz="1050" b="0" i="0">
                <a:solidFill>
                  <a:srgbClr val="5A6672"/>
                </a:solidFill>
                <a:latin typeface="Calibri"/>
              </a:rPr>
              <a:t>•  Wilcoxon (no paramétrico): p = 8,88×10⁻¹⁶  →  la conclusión se sostiene sin el supuesto paramétrico.</a:t>
            </a:r>
          </a:p>
          <a:p>
            <a:pPr>
              <a:lnSpc>
                <a:spcPct val="100000"/>
              </a:lnSpc>
              <a:spcBef>
                <a:spcPts val="0"/>
              </a:spcBef>
              <a:spcAft>
                <a:spcPts val="800"/>
              </a:spcAft>
            </a:pPr>
            <a:r>
              <a:rPr sz="1150" b="1" i="0">
                <a:solidFill>
                  <a:srgbClr val="C8102E"/>
                </a:solidFill>
                <a:latin typeface="Calibri"/>
              </a:rPr>
              <a:t>Robustez</a:t>
            </a:r>
          </a:p>
          <a:p>
            <a:pPr>
              <a:lnSpc>
                <a:spcPct val="105000"/>
              </a:lnSpc>
              <a:spcBef>
                <a:spcPts val="0"/>
              </a:spcBef>
              <a:spcAft>
                <a:spcPts val="800"/>
              </a:spcAft>
            </a:pPr>
            <a:r>
              <a:rPr sz="1050" b="0" i="0">
                <a:solidFill>
                  <a:srgbClr val="5A6672"/>
                </a:solidFill>
                <a:latin typeface="Calibri"/>
              </a:rPr>
              <a:t>•  La reducción crece con la degradación: 83,6 % → 96,7 %.</a:t>
            </a:r>
          </a:p>
          <a:p>
            <a:pPr>
              <a:lnSpc>
                <a:spcPct val="105000"/>
              </a:lnSpc>
              <a:spcBef>
                <a:spcPts val="0"/>
              </a:spcBef>
              <a:spcAft>
                <a:spcPts val="0"/>
              </a:spcAft>
            </a:pPr>
            <a:r>
              <a:rPr sz="1050" b="0" i="0">
                <a:solidFill>
                  <a:srgbClr val="5A6672"/>
                </a:solidFill>
                <a:latin typeface="Calibri"/>
              </a:rPr>
              <a:t>•  De 25 combinaciones Q/R desajustadas, solo 3 resultan peores que no filtrar.</a:t>
            </a:r>
          </a:p>
        </p:txBody>
      </p:sp>
      <p:sp>
        <p:nvSpPr>
          <p:cNvPr id="10" name="Text 8"/>
          <p:cNvSpPr txBox="1"/>
          <p:nvPr/>
        </p:nvSpPr>
        <p:spPr>
          <a:xfrm>
            <a:off x="548640" y="6355080"/>
            <a:ext cx="7772400" cy="320040"/>
          </a:xfrm>
          <a:prstGeom prst="rect">
            <a:avLst/>
          </a:prstGeom>
          <a:noFill/>
          <a:ln/>
        </p:spPr>
        <p:txBody>
          <a:bodyPr wrap="square" lIns="0" tIns="0" rIns="0" bIns="0" rtlCol="0" anchor="ctr"/>
          <a:lstStyle/>
          <a:p>
            <a:pPr algn="l" indent="0" marL="0">
              <a:buNone/>
            </a:pPr>
            <a:r>
              <a:rPr lang="en-US" sz="1000" dirty="0">
                <a:solidFill>
                  <a:srgbClr val="8894A0"/>
                </a:solidFill>
                <a:latin typeface="Calibri" pitchFamily="34" charset="0"/>
                <a:ea typeface="Calibri" pitchFamily="34" charset="-122"/>
                <a:cs typeface="Calibri" pitchFamily="34" charset="-120"/>
              </a:rPr>
              <a:t>Proyecto de Título · Proyecto de Investigación · UNAB</a:t>
            </a:r>
            <a:endParaRPr lang="en-US" sz="1000" dirty="0"/>
          </a:p>
        </p:txBody>
      </p:sp>
      <p:sp>
        <p:nvSpPr>
          <p:cNvPr id="11" name="Text 9"/>
          <p:cNvSpPr txBox="1"/>
          <p:nvPr/>
        </p:nvSpPr>
        <p:spPr>
          <a:xfrm>
            <a:off x="11338560" y="6355080"/>
            <a:ext cx="548640" cy="320040"/>
          </a:xfrm>
          <a:prstGeom prst="rect">
            <a:avLst/>
          </a:prstGeom>
          <a:noFill/>
          <a:ln/>
        </p:spPr>
        <p:txBody>
          <a:bodyPr wrap="square" lIns="0" tIns="0" rIns="0" bIns="0" rtlCol="0" anchor="ctr"/>
          <a:lstStyle/>
          <a:p>
            <a:pPr algn="r" indent="0" marL="0">
              <a:lnSpc>
                <a:spcPct val="105000"/>
              </a:lnSpc>
              <a:spcBef>
                <a:spcPts val="0"/>
              </a:spcBef>
              <a:spcAft>
                <a:spcPts val="0"/>
              </a:spcAft>
              <a:buNone/>
            </a:pPr>
            <a:r>
              <a:rPr sz="1100" b="0" i="0">
                <a:solidFill>
                  <a:srgbClr val="8894A0"/>
                </a:solidFill>
                <a:latin typeface="Calibri"/>
              </a:rPr>
              <a:t>8</a:t>
            </a:r>
            <a:endParaRPr lang="en-US" sz="1100" dirty="0"/>
          </a:p>
        </p:txBody>
      </p:sp>
      <p:pic>
        <p:nvPicPr>
          <p:cNvPr id="12" name="Picture 11" descr="fig4_montecarlo.png"/>
          <p:cNvPicPr>
            <a:picLocks noChangeAspect="1"/>
          </p:cNvPicPr>
          <p:nvPr/>
        </p:nvPicPr>
        <p:blipFill>
          <a:blip r:embed="rId2"/>
          <a:stretch>
            <a:fillRect/>
          </a:stretch>
        </p:blipFill>
        <p:spPr>
          <a:xfrm>
            <a:off x="868680" y="2648085"/>
            <a:ext cx="5943600" cy="24762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2026-09-11T01:56:32Z</dcterms:created>
  <dcterms:modified xsi:type="dcterms:W3CDTF">2026-09-11T01:56:32Z</dcterms:modified>
</cp:coreProperties>
</file>